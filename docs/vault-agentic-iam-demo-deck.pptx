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Title Slide</a:t>
            </a:r>
          </a:p>
          <a:p/>
          <a:p>
            <a:r>
              <a:t>META: Open with the web UI at http://localhost:8501 and the Vault UI at http://127.0.0.1:8200/ui already loaded in separate browser tabs. Have Alice and Bob login windows ready in incognito tabs.</a:t>
            </a:r>
          </a:p>
          <a:p/>
          <a:p>
            <a:r>
              <a:t>CHALLENGE: Enterprise AI agents increasingly act on behalf of users—but most architectures give agents privileged, long-lived credentials that exceed any individual user's permissions. One compromised agent credential becomes a catastrophic blast radius.</a:t>
            </a:r>
          </a:p>
          <a:p/>
          <a:p>
            <a:r>
              <a:t>RISK: Without identity-aware credential issuance, agents become confused deputies: they can perform actions no single user is authorized to do, creating audit failures, compliance violations, and security incidents.</a:t>
            </a:r>
          </a:p>
          <a:p/>
          <a:p>
            <a:r>
              <a:t>SOLUTION: HashiCorp Vault + Microsoft Entra ID enable agents to receive only the credentials the active user is entitled to—short-lived, scoped to the user's group membership, automatically rotated.</a:t>
            </a:r>
          </a:p>
          <a:p/>
          <a:p>
            <a:r>
              <a:t>OUTCOME: Every agent action is authenticated, authorized to the user's exact permissions, and fully auditable—with zero long-lived credentials in the stack.</a:t>
            </a:r>
          </a:p>
          <a:p/>
          <a:p>
            <a:r>
              <a:t>TRANSITION: "Let's start by examining the problem this demo solves." → advance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The Problem</a:t>
            </a:r>
          </a:p>
          <a:p/>
          <a:p>
            <a:r>
              <a:t>META: Keep this on screen. Do NOT switch to live demo yet.</a:t>
            </a:r>
          </a:p>
          <a:p/>
          <a:p>
            <a:r>
              <a:t>CHALLENGE: Traditional application architectures give agents service-account credentials with broad permissions. When Alice—a read-only user—asks the agent to list products, the agent uses the same admin credential it uses when Bob—an admin—adds products. The application itself becomes a privileged deputy.</a:t>
            </a:r>
          </a:p>
          <a:p/>
          <a:p>
            <a:r>
              <a:t>RISK: This creates a critical security gap. If the agent is compromised (prompt injection, supply chain attack, credential leak), attackers inherit full database permissions. There is no per-user boundary. Audit logs are meaningless because every action appears as the agent's identity.</a:t>
            </a:r>
          </a:p>
          <a:p/>
          <a:p>
            <a:r>
              <a:t>SOLUTION: The solution is to make credential issuance identity-aware—so the agent can only receive credentials that reflect the actual user's permissions at the time of the request.</a:t>
            </a:r>
          </a:p>
          <a:p/>
          <a:p>
            <a:r>
              <a:t>OUTCOME: Per-user, short-lived credentials eliminate the confused deputy entirely. A compromised agent can only do what the current user is allowed to do—and only for the TTL of those credentials.</a:t>
            </a:r>
          </a:p>
          <a:p/>
          <a:p>
            <a:r>
              <a:t>TRANSITION: "Here's how Vault solves this." → advance to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The Solution</a:t>
            </a:r>
          </a:p>
          <a:p/>
          <a:p>
            <a:r>
              <a:t>META: Keep this on screen. This is the conceptual anchor slide—spend time here before moving to the architecture.</a:t>
            </a:r>
          </a:p>
          <a:p/>
          <a:p>
            <a:r>
              <a:t>CHALLENGE: The question isn't just "how do we rotate secrets?" It's "how do we make credential issuance identity-aware at runtime, for every request?"</a:t>
            </a:r>
          </a:p>
          <a:p/>
          <a:p>
            <a:r>
              <a:t>RISK: Partial solutions—like rotating static credentials on a schedule—still give agents more privilege than any user. They reduce secret lifetime but don't solve the authorization problem.</a:t>
            </a:r>
          </a:p>
          <a:p/>
          <a:p>
            <a:r>
              <a:t>SOLUTION: Vault's JWT auth backend validates the Entra ID OBO token, extracts the user's group membership claims, maps those to Vault policies, and issues database credentials scoped exactly to that user's permissions—for a 5-minute TTL. The application receives only what the user is allowed to receive.</a:t>
            </a:r>
          </a:p>
          <a:p/>
          <a:p>
            <a:r>
              <a:t>OUTCOME: The application's attack surface collapses to near-zero. Even if an attacker intercepts a credential, it expires in 5 minutes, is scoped to a single user's permissions, and is automatically revoked by Vault.</a:t>
            </a:r>
          </a:p>
          <a:p/>
          <a:p>
            <a:r>
              <a:t>TRANSITION: "Let me show you the architecture that makes this possible." → advance to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Architecture Overview</a:t>
            </a:r>
          </a:p>
          <a:p/>
          <a:p>
            <a:r>
              <a:t>META: Switch to browser tab showing Vault UI: http://127.0.0.1:8200/ui — log in with the root token so the audience can see the namespace, jwt auth mount, and database secrets engine configured by Terraform.</a:t>
            </a:r>
          </a:p>
          <a:p/>
          <a:p>
            <a:r>
              <a:t>CHALLENGE: Teams need to demonstrate modern AI agent architectures without requiring AWS/cloud infrastructure that's difficult to replicate in customer environments. The full stack must run locally with enterprise-grade security controls.</a:t>
            </a:r>
          </a:p>
          <a:p/>
          <a:p>
            <a:r>
              <a:t>RISK: Demo environments often use simplified security shortcuts. This demo uses the same patterns you'd use in production: Vault Enterprise namespaces, JWT auth validated against Entra ID JWKS, dynamic credentials with automatic revocation.</a:t>
            </a:r>
          </a:p>
          <a:p/>
          <a:p>
            <a:r>
              <a:t>SOLUTION: The entire stack runs in nerdctl containers on your laptop. Three pre-built application images from drum0r/ handle the OBO flow, MCP protocol, and Streamlit UI. Vault Enterprise (local) and MongoDB (local) provide the infrastructure. Terraform provisions all Vault configuration automatically.</a:t>
            </a:r>
          </a:p>
          <a:p/>
          <a:p>
            <a:r>
              <a:t>OUTCOME: Customers see a fully functional, production-equivalent demonstration that they can understand, replicate, and adapt—without any cloud dependencies.</a:t>
            </a:r>
          </a:p>
          <a:p/>
          <a:p>
            <a:r>
              <a:t>TRANSITION: "Let me walk through the identity flow step by step." → advance to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Identity Flow</a:t>
            </a:r>
          </a:p>
          <a:p/>
          <a:p>
            <a:r>
              <a:t>META: This is the technical core slide. Keep this visible as you describe each step. You can use this as a reference while the demo runs.</a:t>
            </a:r>
          </a:p>
          <a:p/>
          <a:p>
            <a:r>
              <a:t>CHALLENGE: Most teams struggle to visualize how a user's identity can propagate through a multi-hop API chain without storing credentials in the application.</a:t>
            </a:r>
          </a:p>
          <a:p/>
          <a:p>
            <a:r>
              <a:t>RISK: If any step breaks the identity chain—for example, if the agent replaces the OBO token with its own service account token—the entire security model collapses. The application becomes the confused deputy again.</a:t>
            </a:r>
          </a:p>
          <a:p/>
          <a:p>
            <a:r>
              <a:t>SOLUTION: The OBO (On-Behalf-Of) grant type in OAuth 2.0 is specifically designed for this multi-hop delegation pattern. Entra ID issues a new token at step 3 that represents the user's identity but is scoped for the MCP server audience. Vault then validates this token cryptographically via the JWKS endpoint—never trusting the token blindly.</a:t>
            </a:r>
          </a:p>
          <a:p/>
          <a:p>
            <a:r>
              <a:t>OUTCOME: By step 7, the database credential MongoDB receives was generated specifically for this user, for this request, and will self-destruct in 5 minutes. No human intervention required. No rotation schedule to manage.</a:t>
            </a:r>
          </a:p>
          <a:p/>
          <a:p>
            <a:r>
              <a:t>TRANSITION: "Let's run the actual demo. First, let's look at the environment." → advance to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Demo Setup</a:t>
            </a:r>
          </a:p>
          <a:p/>
          <a:p>
            <a:r>
              <a:t>META: Switch to terminal and run: ./scripts/validate.sh</a:t>
            </a:r>
          </a:p>
          <a:p>
            <a:r>
              <a:t>This confirms all services are healthy. Then switch to browser.</a:t>
            </a:r>
          </a:p>
          <a:p/>
          <a:p>
            <a:r>
              <a:t>Open these URLs in separate tabs before the demo:</a:t>
            </a:r>
          </a:p>
          <a:p>
            <a:r>
              <a:t>  • Streamlit Web UI:  http://localhost:8501</a:t>
            </a:r>
          </a:p>
          <a:p>
            <a:r>
              <a:t>  • Vault UI:          http://127.0.0.1:8200/ui</a:t>
            </a:r>
          </a:p>
          <a:p/>
          <a:p>
            <a:r>
              <a:t>Log into Vault UI with the root token (or namespace admin token) so you can show:</a:t>
            </a:r>
          </a:p>
          <a:p>
            <a:r>
              <a:t>  - The 'agentic-iam-xxxx' namespace</a:t>
            </a:r>
          </a:p>
          <a:p>
            <a:r>
              <a:t>  - The JWT auth mount</a:t>
            </a:r>
          </a:p>
          <a:p>
            <a:r>
              <a:t>  - The database secrets engine</a:t>
            </a:r>
          </a:p>
          <a:p>
            <a:r>
              <a:t>  - The readonly and readwrite policies</a:t>
            </a:r>
          </a:p>
          <a:p/>
          <a:p>
            <a:r>
              <a:t>CHALLENGE: Customers often ask "how do we know the policies are actually enforced?" This slide shows Vault is the enforcement point—not the application.</a:t>
            </a:r>
          </a:p>
          <a:p/>
          <a:p>
            <a:r>
              <a:t>RISK: Without a live Vault UI walkthrough, the demo can feel abstract. Showing the actual policies and identity groups in Vault makes the security model tangible.</a:t>
            </a:r>
          </a:p>
          <a:p/>
          <a:p>
            <a:r>
              <a:t>SOLUTION: Terraform provisioned all of this automatically. Zero manual Vault configuration. The reproducibility itself is part of the security story.</a:t>
            </a:r>
          </a:p>
          <a:p/>
          <a:p>
            <a:r>
              <a:t>OUTCOME: Customers see that Vault's configuration is code-reviewed, version-controlled, and deployable in minutes.</a:t>
            </a:r>
          </a:p>
          <a:p/>
          <a:p>
            <a:r>
              <a:t>TRANSITION: "Now let's log in as Alice—a read-only user." → advance to slide 7</a:t>
            </a:r>
          </a:p>
          <a:p>
            <a:r>
              <a:t>ACTION: Switch to browser tab showing http://localhost:8501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Alice Demo</a:t>
            </a:r>
          </a:p>
          <a:p/>
          <a:p>
            <a:r>
              <a:t>META: Switch to browser. Use the tab showing http://localhost:8501</a:t>
            </a:r>
          </a:p>
          <a:p>
            <a:r>
              <a:t>If Alice's session is already open, great. If not, open a regular (non-incognito) browser tab.</a:t>
            </a:r>
          </a:p>
          <a:p/>
          <a:p>
            <a:r>
              <a:t>Alice login credentials:</a:t>
            </a:r>
          </a:p>
          <a:p>
            <a:r>
              <a:t>  Username: alice@jlevings13gmail699.onmicrosoft.com</a:t>
            </a:r>
          </a:p>
          <a:p>
            <a:r>
              <a:t>  Password: (from terraform.tfvars alice_password field)</a:t>
            </a:r>
          </a:p>
          <a:p/>
          <a:p>
            <a:r>
              <a:t>STEP-BY-STEP ACTIONS:</a:t>
            </a:r>
          </a:p>
          <a:p>
            <a:r>
              <a:t>1. Navigate to http://localhost:8501</a:t>
            </a:r>
          </a:p>
          <a:p>
            <a:r>
              <a:t>2. Click the Login button — you'll be redirected to Microsoft login</a:t>
            </a:r>
          </a:p>
          <a:p>
            <a:r>
              <a:t>3. Enter Alice's email and password</a:t>
            </a:r>
          </a:p>
          <a:p>
            <a:r>
              <a:t>4. In the chat box, type: List all products</a:t>
            </a:r>
          </a:p>
          <a:p>
            <a:r>
              <a:t>   → Wait for the agent to respond with product list</a:t>
            </a:r>
          </a:p>
          <a:p>
            <a:r>
              <a:t>   → If empty first time, run again (MongoDB seed may need a moment)</a:t>
            </a:r>
          </a:p>
          <a:p>
            <a:r>
              <a:t>5. Type: Add a new product named 'Chair Model X' with price $49.99</a:t>
            </a:r>
          </a:p>
          <a:p>
            <a:r>
              <a:t>   → The request will FAIL — this is expected and is the demo working correctly</a:t>
            </a:r>
          </a:p>
          <a:p>
            <a:r>
              <a:t>   → Point out the error message: Vault returned 403 for database/creds/readwrite</a:t>
            </a:r>
          </a:p>
          <a:p/>
          <a:p>
            <a:r>
              <a:t>CHALLENGE: Customers often ask "but the application could just bypass Vault." This is the moment to show they can't—the application has no database credentials of its own.</a:t>
            </a:r>
          </a:p>
          <a:p/>
          <a:p>
            <a:r>
              <a:t>RISK: If the write appears to succeed, the Vault readonly policy may not be applied. Abort and check terraform apply output.</a:t>
            </a:r>
          </a:p>
          <a:p/>
          <a:p>
            <a:r>
              <a:t>SOLUTION: Alice's Entra ID group (db-readonly) maps to the readonly Vault identity group alias, which maps to the readonly policy, which only allows reading database/creds/readonly.</a:t>
            </a:r>
          </a:p>
          <a:p/>
          <a:p>
            <a:r>
              <a:t>OUTCOME: Alice can read but not write. Vault enforced this—not the application code.</a:t>
            </a:r>
          </a:p>
          <a:p/>
          <a:p>
            <a:r>
              <a:t>TRANSITION: "Now let's sign in as Bob, who has admin-level permissions." → advance to slide 8</a:t>
            </a:r>
          </a:p>
          <a:p>
            <a:r>
              <a:t>ACTION: Open NEW INCOGNITO window → http://localhost:8501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Bob Demo</a:t>
            </a:r>
          </a:p>
          <a:p/>
          <a:p>
            <a:r>
              <a:t>META: Use the INCOGNITO window you opened. Do NOT use the same browser session as Alice—the Entra ID session cookie will still be Alice's.</a:t>
            </a:r>
          </a:p>
          <a:p/>
          <a:p>
            <a:r>
              <a:t>Bob login credentials:</a:t>
            </a:r>
          </a:p>
          <a:p>
            <a:r>
              <a:t>  Username: bob@jlevings13gmail699.onmicrosoft.com</a:t>
            </a:r>
          </a:p>
          <a:p>
            <a:r>
              <a:t>  Password: (from terraform.tfvars bob_password field)</a:t>
            </a:r>
          </a:p>
          <a:p/>
          <a:p>
            <a:r>
              <a:t>STEP-BY-STEP ACTIONS:</a:t>
            </a:r>
          </a:p>
          <a:p>
            <a:r>
              <a:t>1. In the incognito window, go to http://localhost:8501</a:t>
            </a:r>
          </a:p>
          <a:p>
            <a:r>
              <a:t>2. Click Login → enter Bob's credentials</a:t>
            </a:r>
          </a:p>
          <a:p>
            <a:r>
              <a:t>3. Type in chat: List all products (confirm products visible)</a:t>
            </a:r>
          </a:p>
          <a:p>
            <a:r>
              <a:t>4. Type: Add a new product named 'Table Model Y' with price $89.99</a:t>
            </a:r>
          </a:p>
          <a:p>
            <a:r>
              <a:t>   → This should SUCCEED</a:t>
            </a:r>
          </a:p>
          <a:p>
            <a:r>
              <a:t>5. Type: List all products → confirm Table Model Y appears</a:t>
            </a:r>
          </a:p>
          <a:p/>
          <a:p>
            <a:r>
              <a:t>KEY TALKING POINT: The application code is identical. The agent is identical. The only difference is which user authenticated and which Entra ID group they belong to. Vault handles all authorization logic externally to the application.</a:t>
            </a:r>
          </a:p>
          <a:p/>
          <a:p>
            <a:r>
              <a:t>CHALLENGE: Application teams resist externalizing authorization because it feels complex. This demo shows the application literally has zero authorization code—it just calls the MCP server with the user's token.</a:t>
            </a:r>
          </a:p>
          <a:p/>
          <a:p>
            <a:r>
              <a:t>RISK: If Bob's write fails, check: (1) was readwrite group alias configured in Vault? Run terraform output. (2) Is Bob's Entra ID account in the db-readwrite group?</a:t>
            </a:r>
          </a:p>
          <a:p/>
          <a:p>
            <a:r>
              <a:t>SOLUTION: The readwrite Vault policy allows reading from database/creds/readwrite, which maps to the MongoDB readWrite role on the test database.</a:t>
            </a:r>
          </a:p>
          <a:p/>
          <a:p>
            <a:r>
              <a:t>OUTCOME: Bob can read and write. The database credential MongoDB received grants exactly readWrite on the test database—nothing more. Vault issued it for a 5-minute TTL.</a:t>
            </a:r>
          </a:p>
          <a:p/>
          <a:p>
            <a:r>
              <a:t>TRANSITION: "Let me show you what this looks like inside Vault." → advance to slide 9</a:t>
            </a:r>
          </a:p>
          <a:p>
            <a:r>
              <a:t>ACTION: Switch to Vault UI tab: http://127.0.0.1:8200/ui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Policy Mapping</a:t>
            </a:r>
          </a:p>
          <a:p/>
          <a:p>
            <a:r>
              <a:t>META: Switch to Vault UI: http://127.0.0.1:8200/ui</a:t>
            </a:r>
          </a:p>
          <a:p>
            <a:r>
              <a:t>Navigate to: Namespace (agentic-iam-xxxx) → Access → Identity → Groups</a:t>
            </a:r>
          </a:p>
          <a:p>
            <a:r>
              <a:t>Show the 'readonly' and 'readwrite' external identity groups.</a:t>
            </a:r>
          </a:p>
          <a:p>
            <a:r>
              <a:t>Navigate to: Policies → Show the readonly and readwrite HCL policies.</a:t>
            </a:r>
          </a:p>
          <a:p>
            <a:r>
              <a:t>Navigate to: Secrets → database → Roles — show the readonly and readwrite roles with 5-min TTL.</a:t>
            </a:r>
          </a:p>
          <a:p/>
          <a:p>
            <a:r>
              <a:t>CHALLENGE: Customers want to know how Vault "knows" which user is which. The JWKS validation is the critical piece.</a:t>
            </a:r>
          </a:p>
          <a:p/>
          <a:p>
            <a:r>
              <a:t>RISK: Without seeing this in Vault UI, customers may assume the application is doing the group lookup. The Vault UI makes it undeniable that this is Vault-enforced.</a:t>
            </a:r>
          </a:p>
          <a:p/>
          <a:p>
            <a:r>
              <a:t>SOLUTION: When the MCP server sends vault write auth/jwt/login role=default jwt=&lt;OBO_TOKEN&gt;, Vault fetches the JWKS endpoint from Entra ID (https://login.microsoftonline.com/&lt;tenant&gt;/discovery/v2.0/keys), validates the token signature, extracts the groups claim (which contains Entra ID group Object IDs), and matches them against identity group aliases.</a:t>
            </a:r>
          </a:p>
          <a:p/>
          <a:p>
            <a:r>
              <a:t>OUTCOME: This mapping is version-controlled in Terraform. Changes to group assignments are infrastructure changes—reviewable, auditable, reproducible.</a:t>
            </a:r>
          </a:p>
          <a:p/>
          <a:p>
            <a:r>
              <a:t>TRANSITION: "Let me now show the credential lifecycle—how short-lived credentials work." → advance to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Short-Lived Credentials</a:t>
            </a:r>
          </a:p>
          <a:p/>
          <a:p>
            <a:r>
              <a:t>META: Stay on this slide — no live demo action needed here. This is the "so what" slide that converts technical features into business value.</a:t>
            </a:r>
          </a:p>
          <a:p/>
          <a:p>
            <a:r>
              <a:t>CHALLENGE: Security teams understand the value, but business stakeholders ask: "How does this reduce risk in practice? What does a 5-minute TTL actually prevent?"</a:t>
            </a:r>
          </a:p>
          <a:p/>
          <a:p>
            <a:r>
              <a:t>RISK: Without concrete impact framing, short TTLs sound like an implementation detail. The answer: it transforms a stolen credential from a persistent threat into an expiring liability.</a:t>
            </a:r>
          </a:p>
          <a:p/>
          <a:p>
            <a:r>
              <a:t>SOLUTION: Walk through the "what if" scenario: Suppose a prompt injection attack causes the agent to exfiltrate credentials. With static credentials, the attacker has permanent database access until someone notices and manually rotates. With Vault dynamic credentials, the attacker has at most 5 minutes of access—and Vault's audit log will show exactly when and which credentials were issued.</a:t>
            </a:r>
          </a:p>
          <a:p/>
          <a:p>
            <a:r>
              <a:t>OUTCOME: This is the foundation for Zero Trust data access. Every database operation is authenticated, authorized, and time-bounded. No long-lived secrets anywhere in the stack.</a:t>
            </a:r>
          </a:p>
          <a:p/>
          <a:p>
            <a:r>
              <a:t>REAL-WORLD IMPACT: Organizations using Vault dynamic secrets have:</a:t>
            </a:r>
          </a:p>
          <a:p>
            <a:r>
              <a:t>  - Reduced MTTR for credential-related incidents by 80%+</a:t>
            </a:r>
          </a:p>
          <a:p>
            <a:r>
              <a:t>  - Eliminated credential rotation toil entirely</a:t>
            </a:r>
          </a:p>
          <a:p>
            <a:r>
              <a:t>  - Achieved SOC 2 Type II compliance faster (audit-ready logs)</a:t>
            </a:r>
          </a:p>
          <a:p/>
          <a:p>
            <a:r>
              <a:t>TRANSITION: "Let me now summarize the enterprise value of this pattern." → advance to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Business Value</a:t>
            </a:r>
          </a:p>
          <a:p/>
          <a:p>
            <a:r>
              <a:t>META: No screen switch needed. This is a conversation slide. Pause here and invite questions.</a:t>
            </a:r>
          </a:p>
          <a:p/>
          <a:p>
            <a:r>
              <a:t>CHALLENGE: CISOs and CIOs must balance security investment against developer productivity. Traditional PAM and secrets rotation tools are expensive to operate and create friction for developers.</a:t>
            </a:r>
          </a:p>
          <a:p/>
          <a:p>
            <a:r>
              <a:t>RISK: Organizations that defer secrets management often accumulate technical debt (hard-coded credentials in 47 microservices) that creates a security crisis during audits or after a breach.</a:t>
            </a:r>
          </a:p>
          <a:p/>
          <a:p>
            <a:r>
              <a:t>SOLUTION: Vault + Entra ID creates a single control plane for all identity and access decisions. Developers write application code that has zero secrets awareness. Security teams manage policy centrally. Compliance teams get automatic audit logs.</a:t>
            </a:r>
          </a:p>
          <a:p/>
          <a:p>
            <a:r>
              <a:t>OUTCOME: HashiCorp customers report:</a:t>
            </a:r>
          </a:p>
          <a:p>
            <a:r>
              <a:t>  - 60-80% reduction in secrets-related security incidents</a:t>
            </a:r>
          </a:p>
          <a:p>
            <a:r>
              <a:t>  - Elimination of manual credential rotation (saving hundreds of engineering hours/year)</a:t>
            </a:r>
          </a:p>
          <a:p>
            <a:r>
              <a:t>  - Audit preparation time reduced from weeks to hours</a:t>
            </a:r>
          </a:p>
          <a:p>
            <a:r>
              <a:t>  - IBM Security's Zero Trust framework alignment: identity as the new perimeter</a:t>
            </a:r>
          </a:p>
          <a:p/>
          <a:p>
            <a:r>
              <a:t>TALKING POINTS FOR IBM CO-SELL:</a:t>
            </a:r>
          </a:p>
          <a:p>
            <a:r>
              <a:t>  - HashiCorp Vault integrates with IBM Security Verify (ISAM) as an additional identity provider</a:t>
            </a:r>
          </a:p>
          <a:p>
            <a:r>
              <a:t>  - IBM Cloud Pak for Security can ingest Vault audit logs for SIEM correlation</a:t>
            </a:r>
          </a:p>
          <a:p>
            <a:r>
              <a:t>  - IBM Consulting practices can deploy this pattern for enterprise customers</a:t>
            </a:r>
          </a:p>
          <a:p/>
          <a:p>
            <a:r>
              <a:t>TRANSITION: "Here's how to get started with this pattern in your organization." → advance to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Call to Action</a:t>
            </a:r>
          </a:p>
          <a:p/>
          <a:p>
            <a:r>
              <a:t>META: End the live demo here. Close the browser tabs showing Alice and Bob sessions. Return to this slide.</a:t>
            </a:r>
          </a:p>
          <a:p/>
          <a:p>
            <a:r>
              <a:t>CHALLENGE: Customers leave demos excited but unsure where to start. The path from demo to production feels long.</a:t>
            </a:r>
          </a:p>
          <a:p/>
          <a:p>
            <a:r>
              <a:t>RISK: Without a clear next step, the demo becomes a one-time event with no follow-through. The goal is a committed next action—a workshop, a pilot, a proof-of-concept.</a:t>
            </a:r>
          </a:p>
          <a:p/>
          <a:p>
            <a:r>
              <a:t>SOLUTION: HashiCorp and IBM offer a structured path:</a:t>
            </a:r>
          </a:p>
          <a:p>
            <a:r>
              <a:t>  1. Secrets Audit → identify where static credentials exist today</a:t>
            </a:r>
          </a:p>
          <a:p>
            <a:r>
              <a:t>  2. Vault Architecture Workshop → design the target state</a:t>
            </a:r>
          </a:p>
          <a:p>
            <a:r>
              <a:t>  3. Pilot → implement dynamic secrets for one team/app</a:t>
            </a:r>
          </a:p>
          <a:p>
            <a:r>
              <a:t>  4. Scale → HCP Vault Dedicated or Vault Enterprise cluster</a:t>
            </a:r>
          </a:p>
          <a:p/>
          <a:p>
            <a:r>
              <a:t>OUTCOME: Customers who complete a Vault pilot typically expand to 3-5 use cases within 6 months: dynamic secrets, PKI as a service, SSH cert auth, KV secrets, OIDC federation.</a:t>
            </a:r>
          </a:p>
          <a:p/>
          <a:p>
            <a:r>
              <a:t>IBM CO-SELL: This demo is a lead-in for IBM Security Services' Zero Trust practice and HashiCorp's Channel+ partner program.</a:t>
            </a:r>
          </a:p>
          <a:p/>
          <a:p>
            <a:r>
              <a:t>CLOSING STATEMENT:</a:t>
            </a:r>
          </a:p>
          <a:p>
            <a:r>
              <a:t>"What you saw today is running live on a laptop. The same architecture scales to HCP Vault with thousands of applications. The security model doesn't change—it just gets bigger. Let's talk about where you want to start."</a:t>
            </a:r>
          </a:p>
          <a:p/>
          <a:p>
            <a:r>
              <a:t>META: Offer to email the GitHub link and schedule a follow-up workshop.</a:t>
            </a:r>
          </a:p>
          <a:p>
            <a:r>
              <a:t>GitHub: https://github.com/Jlevings/demo-vault-agentic-iam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73152" cy="678484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1005840"/>
          </a:xfrm>
          <a:prstGeom prst="rect">
            <a:avLst/>
          </a:prstGeom>
          <a:noFill/>
        </p:spPr>
        <p:txBody>
          <a:bodyPr wrap="square">
            <a:spAutoFit/>
          </a:bodyPr>
          <a:lstStyle/>
          <a:p>
            <a:pPr algn="l"/>
            <a:r>
              <a:rPr sz="5200" b="1" i="0">
                <a:solidFill>
                  <a:srgbClr val="FFFFFF"/>
                </a:solidFill>
                <a:latin typeface="Calibri"/>
              </a:rPr>
              <a:t>Vault Agentic IAM</a:t>
            </a:r>
          </a:p>
        </p:txBody>
      </p:sp>
      <p:sp>
        <p:nvSpPr>
          <p:cNvPr id="5" name="TextBox 4"/>
          <p:cNvSpPr txBox="1"/>
          <p:nvPr/>
        </p:nvSpPr>
        <p:spPr>
          <a:xfrm>
            <a:off x="548640" y="2514600"/>
            <a:ext cx="10972800" cy="548640"/>
          </a:xfrm>
          <a:prstGeom prst="rect">
            <a:avLst/>
          </a:prstGeom>
          <a:noFill/>
        </p:spPr>
        <p:txBody>
          <a:bodyPr wrap="square">
            <a:spAutoFit/>
          </a:bodyPr>
          <a:lstStyle/>
          <a:p>
            <a:pPr algn="l"/>
            <a:r>
              <a:rPr sz="2600" b="0" i="0">
                <a:solidFill>
                  <a:srgbClr val="FFD714"/>
                </a:solidFill>
                <a:latin typeface="Calibri"/>
              </a:rPr>
              <a:t>Eliminating the Confused Deputy Problem</a:t>
            </a:r>
          </a:p>
        </p:txBody>
      </p:sp>
      <p:sp>
        <p:nvSpPr>
          <p:cNvPr id="6" name="Rectangle 5"/>
          <p:cNvSpPr/>
          <p:nvPr/>
        </p:nvSpPr>
        <p:spPr>
          <a:xfrm>
            <a:off x="548640" y="3200400"/>
            <a:ext cx="4572000" cy="4572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337560"/>
            <a:ext cx="8229600" cy="822960"/>
          </a:xfrm>
          <a:prstGeom prst="rect">
            <a:avLst/>
          </a:prstGeom>
          <a:noFill/>
        </p:spPr>
        <p:txBody>
          <a:bodyPr wrap="square">
            <a:spAutoFit/>
          </a:bodyPr>
          <a:lstStyle/>
          <a:p>
            <a:pPr algn="l"/>
            <a:r>
              <a:rPr sz="1600" b="0" i="0">
                <a:solidFill>
                  <a:srgbClr val="999999"/>
                </a:solidFill>
                <a:latin typeface="Calibri"/>
              </a:rPr>
              <a:t>How HashiCorp Vault + Microsoft Entra ID deliver
identity-aware, ephemeral credentials for AI agents</a:t>
            </a:r>
          </a:p>
        </p:txBody>
      </p:sp>
      <p:sp>
        <p:nvSpPr>
          <p:cNvPr id="8" name="TextBox 7"/>
          <p:cNvSpPr txBox="1"/>
          <p:nvPr/>
        </p:nvSpPr>
        <p:spPr>
          <a:xfrm>
            <a:off x="548640" y="4572000"/>
            <a:ext cx="3657600" cy="457200"/>
          </a:xfrm>
          <a:prstGeom prst="rect">
            <a:avLst/>
          </a:prstGeom>
          <a:noFill/>
        </p:spPr>
        <p:txBody>
          <a:bodyPr wrap="square">
            <a:spAutoFit/>
          </a:bodyPr>
          <a:lstStyle/>
          <a:p>
            <a:pPr algn="l"/>
            <a:r>
              <a:rPr sz="2000" b="1" i="0">
                <a:solidFill>
                  <a:srgbClr val="0F62FE"/>
                </a:solidFill>
                <a:latin typeface="Calibri"/>
              </a:rPr>
              <a:t>HashiCorp  ×  IBM</a:t>
            </a:r>
          </a:p>
        </p:txBody>
      </p:sp>
      <p:sp>
        <p:nvSpPr>
          <p:cNvPr id="9" name="TextBox 8"/>
          <p:cNvSpPr txBox="1"/>
          <p:nvPr/>
        </p:nvSpPr>
        <p:spPr>
          <a:xfrm>
            <a:off x="548640" y="6309360"/>
            <a:ext cx="10972800" cy="320040"/>
          </a:xfrm>
          <a:prstGeom prst="rect">
            <a:avLst/>
          </a:prstGeom>
          <a:noFill/>
        </p:spPr>
        <p:txBody>
          <a:bodyPr wrap="square">
            <a:spAutoFit/>
          </a:bodyPr>
          <a:lstStyle/>
          <a:p>
            <a:pPr algn="l"/>
            <a:r>
              <a:rPr sz="900" b="0" i="0">
                <a:solidFill>
                  <a:srgbClr val="999999"/>
                </a:solidFill>
                <a:latin typeface="Calibri"/>
              </a:rPr>
              <a:t>Demo URLs (live):  Web UI → http://localhost:8501  |  Vault UI → http://127.0.0.1:8200/ui</a:t>
            </a:r>
          </a:p>
        </p:txBody>
      </p:sp>
      <p:sp>
        <p:nvSpPr>
          <p:cNvPr id="10" name="TextBox 9"/>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11" name="TextBox 10"/>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The Problem: The Confused Deputy</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When agents hold the keys to the kingdom</a:t>
            </a:r>
          </a:p>
        </p:txBody>
      </p:sp>
      <p:sp>
        <p:nvSpPr>
          <p:cNvPr id="5" name="Rectangle 4"/>
          <p:cNvSpPr/>
          <p:nvPr/>
        </p:nvSpPr>
        <p:spPr>
          <a:xfrm>
            <a:off x="457200" y="1234440"/>
            <a:ext cx="5303520" cy="438912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937760" cy="365760"/>
          </a:xfrm>
          <a:prstGeom prst="rect">
            <a:avLst/>
          </a:prstGeom>
          <a:noFill/>
        </p:spPr>
        <p:txBody>
          <a:bodyPr wrap="square">
            <a:spAutoFit/>
          </a:bodyPr>
          <a:lstStyle/>
          <a:p>
            <a:pPr algn="l"/>
            <a:r>
              <a:rPr sz="1400" b="1" i="0">
                <a:solidFill>
                  <a:srgbClr val="FFD714"/>
                </a:solidFill>
                <a:latin typeface="Calibri"/>
              </a:rPr>
              <a:t>Traditional Agent Architecture</a:t>
            </a:r>
          </a:p>
        </p:txBody>
      </p:sp>
      <p:sp>
        <p:nvSpPr>
          <p:cNvPr id="7" name="TextBox 6"/>
          <p:cNvSpPr txBox="1"/>
          <p:nvPr/>
        </p:nvSpPr>
        <p:spPr>
          <a:xfrm>
            <a:off x="640080" y="1783080"/>
            <a:ext cx="4937760" cy="3474720"/>
          </a:xfrm>
          <a:prstGeom prst="rect">
            <a:avLst/>
          </a:prstGeom>
          <a:noFill/>
        </p:spPr>
        <p:txBody>
          <a:bodyPr wrap="square">
            <a:spAutoFit/>
          </a:bodyPr>
          <a:lstStyle/>
          <a:p>
            <a:pPr algn="l"/>
            <a:r>
              <a:rPr sz="1000" b="0" i="0">
                <a:solidFill>
                  <a:srgbClr val="FFFFFF"/>
                </a:solidFill>
                <a:latin typeface="Calibri"/>
              </a:rPr>
              <a:t>User Request
      │
      ▼
┌─────────────┐
│    Agent    │ ← holds ADMIN credentials
│  (FastAPI)  │   embedded in config/env
└──────┬──────┘
       │  uses app's own
       │  static credentials
       ▼
┌─────────────┐
│  Database   │ Alice &amp; Bob both
│  (MongoDB)  │ get full access!
└─────────────┘</a:t>
            </a:r>
          </a:p>
        </p:txBody>
      </p:sp>
      <p:sp>
        <p:nvSpPr>
          <p:cNvPr id="8" name="Rectangle 7"/>
          <p:cNvSpPr/>
          <p:nvPr/>
        </p:nvSpPr>
        <p:spPr>
          <a:xfrm>
            <a:off x="6126480" y="1234440"/>
            <a:ext cx="5577840" cy="438912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371600"/>
            <a:ext cx="5212080" cy="365760"/>
          </a:xfrm>
          <a:prstGeom prst="rect">
            <a:avLst/>
          </a:prstGeom>
          <a:noFill/>
        </p:spPr>
        <p:txBody>
          <a:bodyPr wrap="square">
            <a:spAutoFit/>
          </a:bodyPr>
          <a:lstStyle/>
          <a:p>
            <a:pPr algn="l"/>
            <a:r>
              <a:rPr sz="1400" b="1" i="0">
                <a:solidFill>
                  <a:srgbClr val="FA4D56"/>
                </a:solidFill>
                <a:latin typeface="Calibri"/>
              </a:rPr>
              <a:t>Consequences</a:t>
            </a:r>
          </a:p>
        </p:txBody>
      </p:sp>
      <p:sp>
        <p:nvSpPr>
          <p:cNvPr id="10" name="TextBox 9"/>
          <p:cNvSpPr txBox="1"/>
          <p:nvPr/>
        </p:nvSpPr>
        <p:spPr>
          <a:xfrm>
            <a:off x="6446520" y="1920240"/>
            <a:ext cx="4937760" cy="3383280"/>
          </a:xfrm>
          <a:prstGeom prst="rect">
            <a:avLst/>
          </a:prstGeom>
          <a:noFill/>
        </p:spPr>
        <p:txBody>
          <a:bodyPr wrap="square">
            <a:spAutoFit/>
          </a:bodyPr>
          <a:lstStyle/>
          <a:p>
            <a:pPr>
              <a:spcBef>
                <a:spcPts val="400"/>
              </a:spcBef>
            </a:pPr>
            <a:r>
              <a:rPr sz="1200">
                <a:solidFill>
                  <a:srgbClr val="FFFFFF"/>
                </a:solidFill>
              </a:rPr>
              <a:t>▸  Agent acts with MORE privilege than any single user</a:t>
            </a:r>
          </a:p>
          <a:p>
            <a:pPr>
              <a:spcBef>
                <a:spcPts val="400"/>
              </a:spcBef>
            </a:pPr>
            <a:r>
              <a:rPr sz="1200">
                <a:solidFill>
                  <a:srgbClr val="FFFFFF"/>
                </a:solidFill>
              </a:rPr>
              <a:t>▸  One compromised API key → full database access</a:t>
            </a:r>
          </a:p>
          <a:p>
            <a:pPr>
              <a:spcBef>
                <a:spcPts val="400"/>
              </a:spcBef>
            </a:pPr>
            <a:r>
              <a:rPr sz="1200">
                <a:solidFill>
                  <a:srgbClr val="FFFFFF"/>
                </a:solidFill>
              </a:rPr>
              <a:t>▸  Audit logs show agent identity, not user identity</a:t>
            </a:r>
          </a:p>
          <a:p>
            <a:pPr>
              <a:spcBef>
                <a:spcPts val="400"/>
              </a:spcBef>
            </a:pPr>
            <a:r>
              <a:rPr sz="1200">
                <a:solidFill>
                  <a:srgbClr val="FFFFFF"/>
                </a:solidFill>
              </a:rPr>
              <a:t>▸  No way to enforce per-user access controls</a:t>
            </a:r>
          </a:p>
          <a:p>
            <a:pPr>
              <a:spcBef>
                <a:spcPts val="400"/>
              </a:spcBef>
            </a:pPr>
            <a:r>
              <a:rPr sz="1200">
                <a:solidFill>
                  <a:srgbClr val="FFFFFF"/>
                </a:solidFill>
              </a:rPr>
              <a:t>▸  Static secrets embedded in containers or env files</a:t>
            </a:r>
          </a:p>
          <a:p>
            <a:pPr>
              <a:spcBef>
                <a:spcPts val="400"/>
              </a:spcBef>
            </a:pPr>
            <a:r>
              <a:rPr sz="1200">
                <a:solidFill>
                  <a:srgbClr val="FFFFFF"/>
                </a:solidFill>
              </a:rPr>
              <a:t>▸  Violates least-privilege + separation of duty</a:t>
            </a:r>
          </a:p>
          <a:p>
            <a:pPr>
              <a:spcBef>
                <a:spcPts val="400"/>
              </a:spcBef>
            </a:pPr>
            <a:r>
              <a:rPr sz="1200">
                <a:solidFill>
                  <a:srgbClr val="FFFFFF"/>
                </a:solidFill>
              </a:rPr>
              <a:t>▸  Regulatory non-compliance (SOC 2, ISO 27001, HIPAA)</a:t>
            </a:r>
          </a:p>
        </p:txBody>
      </p:sp>
      <p:sp>
        <p:nvSpPr>
          <p:cNvPr id="11" name="TextBox 10"/>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12" name="TextBox 11"/>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The Solution: Vault-Enforced Identity</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Every credential is earned, not assumed</a:t>
            </a:r>
          </a:p>
        </p:txBody>
      </p:sp>
      <p:sp>
        <p:nvSpPr>
          <p:cNvPr id="5" name="Rectangle 4"/>
          <p:cNvSpPr/>
          <p:nvPr/>
        </p:nvSpPr>
        <p:spPr>
          <a:xfrm>
            <a:off x="457200" y="1234440"/>
            <a:ext cx="5303520"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4937760" cy="365760"/>
          </a:xfrm>
          <a:prstGeom prst="rect">
            <a:avLst/>
          </a:prstGeom>
          <a:noFill/>
        </p:spPr>
        <p:txBody>
          <a:bodyPr wrap="square">
            <a:spAutoFit/>
          </a:bodyPr>
          <a:lstStyle/>
          <a:p>
            <a:pPr algn="l"/>
            <a:r>
              <a:rPr sz="1400" b="1" i="0">
                <a:solidFill>
                  <a:srgbClr val="FA4D56"/>
                </a:solidFill>
                <a:latin typeface="Calibri"/>
              </a:rPr>
              <a:t>❌  Without Vault</a:t>
            </a:r>
          </a:p>
        </p:txBody>
      </p:sp>
      <p:sp>
        <p:nvSpPr>
          <p:cNvPr id="7" name="TextBox 6"/>
          <p:cNvSpPr txBox="1"/>
          <p:nvPr/>
        </p:nvSpPr>
        <p:spPr>
          <a:xfrm>
            <a:off x="777240" y="1874519"/>
            <a:ext cx="4663440" cy="3200400"/>
          </a:xfrm>
          <a:prstGeom prst="rect">
            <a:avLst/>
          </a:prstGeom>
          <a:noFill/>
        </p:spPr>
        <p:txBody>
          <a:bodyPr wrap="square">
            <a:spAutoFit/>
          </a:bodyPr>
          <a:lstStyle/>
          <a:p>
            <a:pPr>
              <a:spcBef>
                <a:spcPts val="400"/>
              </a:spcBef>
            </a:pPr>
            <a:r>
              <a:rPr sz="1200">
                <a:solidFill>
                  <a:srgbClr val="FFFFFF"/>
                </a:solidFill>
              </a:rPr>
              <a:t>▸  Static admin credentials in app config</a:t>
            </a:r>
          </a:p>
          <a:p>
            <a:pPr>
              <a:spcBef>
                <a:spcPts val="400"/>
              </a:spcBef>
            </a:pPr>
            <a:r>
              <a:rPr sz="1200">
                <a:solidFill>
                  <a:srgbClr val="FFFFFF"/>
                </a:solidFill>
              </a:rPr>
              <a:t>▸  Agent decides authorization logic</a:t>
            </a:r>
          </a:p>
          <a:p>
            <a:pPr>
              <a:spcBef>
                <a:spcPts val="400"/>
              </a:spcBef>
            </a:pPr>
            <a:r>
              <a:rPr sz="1200">
                <a:solidFill>
                  <a:srgbClr val="FFFFFF"/>
                </a:solidFill>
              </a:rPr>
              <a:t>▸  All users → same database permissions</a:t>
            </a:r>
          </a:p>
          <a:p>
            <a:pPr>
              <a:spcBef>
                <a:spcPts val="400"/>
              </a:spcBef>
            </a:pPr>
            <a:r>
              <a:rPr sz="1200">
                <a:solidFill>
                  <a:srgbClr val="FFFFFF"/>
                </a:solidFill>
              </a:rPr>
              <a:t>▸  Long-lived secrets (months/years)</a:t>
            </a:r>
          </a:p>
          <a:p>
            <a:pPr>
              <a:spcBef>
                <a:spcPts val="400"/>
              </a:spcBef>
            </a:pPr>
            <a:r>
              <a:rPr sz="1200">
                <a:solidFill>
                  <a:srgbClr val="FFFFFF"/>
                </a:solidFill>
              </a:rPr>
              <a:t>▸  Secrets in env files or Kubernetes secrets</a:t>
            </a:r>
          </a:p>
          <a:p>
            <a:pPr>
              <a:spcBef>
                <a:spcPts val="400"/>
              </a:spcBef>
            </a:pPr>
            <a:r>
              <a:rPr sz="1200">
                <a:solidFill>
                  <a:srgbClr val="FFFFFF"/>
                </a:solidFill>
              </a:rPr>
              <a:t>▸  Manual rotation (or never rotated)</a:t>
            </a:r>
          </a:p>
        </p:txBody>
      </p:sp>
      <p:sp>
        <p:nvSpPr>
          <p:cNvPr id="8" name="Rectangle 7"/>
          <p:cNvSpPr/>
          <p:nvPr/>
        </p:nvSpPr>
        <p:spPr>
          <a:xfrm>
            <a:off x="6126480" y="1234440"/>
            <a:ext cx="5577840"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325880"/>
            <a:ext cx="5212080" cy="365760"/>
          </a:xfrm>
          <a:prstGeom prst="rect">
            <a:avLst/>
          </a:prstGeom>
          <a:noFill/>
        </p:spPr>
        <p:txBody>
          <a:bodyPr wrap="square">
            <a:spAutoFit/>
          </a:bodyPr>
          <a:lstStyle/>
          <a:p>
            <a:pPr algn="l"/>
            <a:r>
              <a:rPr sz="1400" b="1" i="0">
                <a:solidFill>
                  <a:srgbClr val="42BE65"/>
                </a:solidFill>
                <a:latin typeface="Calibri"/>
              </a:rPr>
              <a:t>✅  With Vault OBO Flow</a:t>
            </a:r>
          </a:p>
        </p:txBody>
      </p:sp>
      <p:sp>
        <p:nvSpPr>
          <p:cNvPr id="10" name="TextBox 9"/>
          <p:cNvSpPr txBox="1"/>
          <p:nvPr/>
        </p:nvSpPr>
        <p:spPr>
          <a:xfrm>
            <a:off x="6446520" y="1874519"/>
            <a:ext cx="4937760" cy="3200400"/>
          </a:xfrm>
          <a:prstGeom prst="rect">
            <a:avLst/>
          </a:prstGeom>
          <a:noFill/>
        </p:spPr>
        <p:txBody>
          <a:bodyPr wrap="square">
            <a:spAutoFit/>
          </a:bodyPr>
          <a:lstStyle/>
          <a:p>
            <a:pPr>
              <a:spcBef>
                <a:spcPts val="400"/>
              </a:spcBef>
            </a:pPr>
            <a:r>
              <a:rPr sz="1200">
                <a:solidFill>
                  <a:srgbClr val="FFFFFF"/>
                </a:solidFill>
              </a:rPr>
              <a:t>▸  Zero static credentials in the application</a:t>
            </a:r>
          </a:p>
          <a:p>
            <a:pPr>
              <a:spcBef>
                <a:spcPts val="400"/>
              </a:spcBef>
            </a:pPr>
            <a:r>
              <a:rPr sz="1200">
                <a:solidFill>
                  <a:srgbClr val="FFFFFF"/>
                </a:solidFill>
              </a:rPr>
              <a:t>▸  Vault enforces authorization via identity groups</a:t>
            </a:r>
          </a:p>
          <a:p>
            <a:pPr>
              <a:spcBef>
                <a:spcPts val="400"/>
              </a:spcBef>
            </a:pPr>
            <a:r>
              <a:rPr sz="1200">
                <a:solidFill>
                  <a:srgbClr val="FFFFFF"/>
                </a:solidFill>
              </a:rPr>
              <a:t>▸  Alice → read-only creds  |  Bob → read-write creds</a:t>
            </a:r>
          </a:p>
          <a:p>
            <a:pPr>
              <a:spcBef>
                <a:spcPts val="400"/>
              </a:spcBef>
            </a:pPr>
            <a:r>
              <a:rPr sz="1200">
                <a:solidFill>
                  <a:srgbClr val="FFFFFF"/>
                </a:solidFill>
              </a:rPr>
              <a:t>▸  Short-lived credentials (5-min TTL, auto-revoked)</a:t>
            </a:r>
          </a:p>
          <a:p>
            <a:pPr>
              <a:spcBef>
                <a:spcPts val="400"/>
              </a:spcBef>
            </a:pPr>
            <a:r>
              <a:rPr sz="1200">
                <a:solidFill>
                  <a:srgbClr val="FFFFFF"/>
                </a:solidFill>
              </a:rPr>
              <a:t>▸  Vault is the only secrets store</a:t>
            </a:r>
          </a:p>
          <a:p>
            <a:pPr>
              <a:spcBef>
                <a:spcPts val="400"/>
              </a:spcBef>
            </a:pPr>
            <a:r>
              <a:rPr sz="1200">
                <a:solidFill>
                  <a:srgbClr val="FFFFFF"/>
                </a:solidFill>
              </a:rPr>
              <a:t>▸  Automatic rotation + revocation on expiry</a:t>
            </a:r>
          </a:p>
        </p:txBody>
      </p:sp>
      <p:sp>
        <p:nvSpPr>
          <p:cNvPr id="11" name="Rectangle 10"/>
          <p:cNvSpPr/>
          <p:nvPr/>
        </p:nvSpPr>
        <p:spPr>
          <a:xfrm>
            <a:off x="457200" y="5943600"/>
            <a:ext cx="11247120" cy="64008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989320"/>
            <a:ext cx="10972800" cy="502920"/>
          </a:xfrm>
          <a:prstGeom prst="rect">
            <a:avLst/>
          </a:prstGeom>
          <a:noFill/>
        </p:spPr>
        <p:txBody>
          <a:bodyPr wrap="square">
            <a:spAutoFit/>
          </a:bodyPr>
          <a:lstStyle/>
          <a:p>
            <a:pPr algn="ctr"/>
            <a:r>
              <a:rPr sz="1300" b="0" i="1">
                <a:solidFill>
                  <a:srgbClr val="FFD714"/>
                </a:solidFill>
                <a:latin typeface="Calibri"/>
              </a:rPr>
              <a:t>"The application never decides who gets what access. Vault does—based on the user's verified identity."</a:t>
            </a:r>
          </a:p>
        </p:txBody>
      </p:sp>
      <p:sp>
        <p:nvSpPr>
          <p:cNvPr id="13" name="TextBox 12"/>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14" name="TextBox 13"/>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Architecture Overview</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Local stack — zero cloud infrastructure required</a:t>
            </a:r>
          </a:p>
        </p:txBody>
      </p:sp>
      <p:sp>
        <p:nvSpPr>
          <p:cNvPr id="5" name="Rectangle 4"/>
          <p:cNvSpPr/>
          <p:nvPr/>
        </p:nvSpPr>
        <p:spPr>
          <a:xfrm>
            <a:off x="457200" y="1234440"/>
            <a:ext cx="3383280" cy="1371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34440"/>
            <a:ext cx="3383280" cy="6400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3108960" cy="548640"/>
          </a:xfrm>
          <a:prstGeom prst="rect">
            <a:avLst/>
          </a:prstGeom>
          <a:noFill/>
        </p:spPr>
        <p:txBody>
          <a:bodyPr wrap="square">
            <a:spAutoFit/>
          </a:bodyPr>
          <a:lstStyle/>
          <a:p>
            <a:pPr algn="l"/>
            <a:r>
              <a:rPr sz="1400" b="1" i="0">
                <a:solidFill>
                  <a:srgbClr val="0F62FE"/>
                </a:solidFill>
                <a:latin typeface="Calibri"/>
              </a:rPr>
              <a:t>products-web
:8501</a:t>
            </a:r>
          </a:p>
        </p:txBody>
      </p:sp>
      <p:sp>
        <p:nvSpPr>
          <p:cNvPr id="8" name="TextBox 7"/>
          <p:cNvSpPr txBox="1"/>
          <p:nvPr/>
        </p:nvSpPr>
        <p:spPr>
          <a:xfrm>
            <a:off x="594360" y="1874519"/>
            <a:ext cx="3108960" cy="594360"/>
          </a:xfrm>
          <a:prstGeom prst="rect">
            <a:avLst/>
          </a:prstGeom>
          <a:noFill/>
        </p:spPr>
        <p:txBody>
          <a:bodyPr wrap="square">
            <a:spAutoFit/>
          </a:bodyPr>
          <a:lstStyle/>
          <a:p>
            <a:pPr algn="l"/>
            <a:r>
              <a:rPr sz="1100" b="0" i="0">
                <a:solidFill>
                  <a:srgbClr val="999999"/>
                </a:solidFill>
                <a:latin typeface="Calibri"/>
              </a:rPr>
              <a:t>Streamlit UI
Entra ID OIDC login</a:t>
            </a:r>
          </a:p>
        </p:txBody>
      </p:sp>
      <p:sp>
        <p:nvSpPr>
          <p:cNvPr id="9" name="Rectangle 8"/>
          <p:cNvSpPr/>
          <p:nvPr/>
        </p:nvSpPr>
        <p:spPr>
          <a:xfrm>
            <a:off x="4389120" y="1234440"/>
            <a:ext cx="3383280" cy="1371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34440"/>
            <a:ext cx="3383280" cy="6400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371600"/>
            <a:ext cx="3108960" cy="548640"/>
          </a:xfrm>
          <a:prstGeom prst="rect">
            <a:avLst/>
          </a:prstGeom>
          <a:noFill/>
        </p:spPr>
        <p:txBody>
          <a:bodyPr wrap="square">
            <a:spAutoFit/>
          </a:bodyPr>
          <a:lstStyle/>
          <a:p>
            <a:pPr algn="l"/>
            <a:r>
              <a:rPr sz="1400" b="1" i="0">
                <a:solidFill>
                  <a:srgbClr val="FFD714"/>
                </a:solidFill>
                <a:latin typeface="Calibri"/>
              </a:rPr>
              <a:t>products-agent
:8001</a:t>
            </a:r>
          </a:p>
        </p:txBody>
      </p:sp>
      <p:sp>
        <p:nvSpPr>
          <p:cNvPr id="12" name="TextBox 11"/>
          <p:cNvSpPr txBox="1"/>
          <p:nvPr/>
        </p:nvSpPr>
        <p:spPr>
          <a:xfrm>
            <a:off x="4526280" y="1874519"/>
            <a:ext cx="3108960" cy="594360"/>
          </a:xfrm>
          <a:prstGeom prst="rect">
            <a:avLst/>
          </a:prstGeom>
          <a:noFill/>
        </p:spPr>
        <p:txBody>
          <a:bodyPr wrap="square">
            <a:spAutoFit/>
          </a:bodyPr>
          <a:lstStyle/>
          <a:p>
            <a:pPr algn="l"/>
            <a:r>
              <a:rPr sz="1100" b="0" i="0">
                <a:solidFill>
                  <a:srgbClr val="999999"/>
                </a:solidFill>
                <a:latin typeface="Calibri"/>
              </a:rPr>
              <a:t>FastAPI Agent
OBO token exchange</a:t>
            </a:r>
          </a:p>
        </p:txBody>
      </p:sp>
      <p:sp>
        <p:nvSpPr>
          <p:cNvPr id="13" name="Rectangle 12"/>
          <p:cNvSpPr/>
          <p:nvPr/>
        </p:nvSpPr>
        <p:spPr>
          <a:xfrm>
            <a:off x="8321040" y="1234440"/>
            <a:ext cx="3383280" cy="1371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1234440"/>
            <a:ext cx="3383280" cy="6400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371600"/>
            <a:ext cx="3108960" cy="548640"/>
          </a:xfrm>
          <a:prstGeom prst="rect">
            <a:avLst/>
          </a:prstGeom>
          <a:noFill/>
        </p:spPr>
        <p:txBody>
          <a:bodyPr wrap="square">
            <a:spAutoFit/>
          </a:bodyPr>
          <a:lstStyle/>
          <a:p>
            <a:pPr algn="l"/>
            <a:r>
              <a:rPr sz="1400" b="1" i="0">
                <a:solidFill>
                  <a:srgbClr val="FFD714"/>
                </a:solidFill>
                <a:latin typeface="Calibri"/>
              </a:rPr>
              <a:t>products-mcp
:8000</a:t>
            </a:r>
          </a:p>
        </p:txBody>
      </p:sp>
      <p:sp>
        <p:nvSpPr>
          <p:cNvPr id="16" name="TextBox 15"/>
          <p:cNvSpPr txBox="1"/>
          <p:nvPr/>
        </p:nvSpPr>
        <p:spPr>
          <a:xfrm>
            <a:off x="8458200" y="1874519"/>
            <a:ext cx="3108960" cy="594360"/>
          </a:xfrm>
          <a:prstGeom prst="rect">
            <a:avLst/>
          </a:prstGeom>
          <a:noFill/>
        </p:spPr>
        <p:txBody>
          <a:bodyPr wrap="square">
            <a:spAutoFit/>
          </a:bodyPr>
          <a:lstStyle/>
          <a:p>
            <a:pPr algn="l"/>
            <a:r>
              <a:rPr sz="1100" b="0" i="0">
                <a:solidFill>
                  <a:srgbClr val="999999"/>
                </a:solidFill>
                <a:latin typeface="Calibri"/>
              </a:rPr>
              <a:t>MCP Server
Vault JWT auth</a:t>
            </a:r>
          </a:p>
        </p:txBody>
      </p:sp>
      <p:sp>
        <p:nvSpPr>
          <p:cNvPr id="17" name="TextBox 16"/>
          <p:cNvSpPr txBox="1"/>
          <p:nvPr/>
        </p:nvSpPr>
        <p:spPr>
          <a:xfrm>
            <a:off x="3931920" y="1737360"/>
            <a:ext cx="457200" cy="365760"/>
          </a:xfrm>
          <a:prstGeom prst="rect">
            <a:avLst/>
          </a:prstGeom>
          <a:noFill/>
        </p:spPr>
        <p:txBody>
          <a:bodyPr wrap="square">
            <a:spAutoFit/>
          </a:bodyPr>
          <a:lstStyle/>
          <a:p>
            <a:pPr algn="ctr"/>
            <a:r>
              <a:rPr sz="2000" b="1" i="0">
                <a:solidFill>
                  <a:srgbClr val="FFD714"/>
                </a:solidFill>
                <a:latin typeface="Calibri"/>
              </a:rPr>
              <a:t>→</a:t>
            </a:r>
          </a:p>
        </p:txBody>
      </p:sp>
      <p:sp>
        <p:nvSpPr>
          <p:cNvPr id="18" name="TextBox 17"/>
          <p:cNvSpPr txBox="1"/>
          <p:nvPr/>
        </p:nvSpPr>
        <p:spPr>
          <a:xfrm>
            <a:off x="7863840" y="1737360"/>
            <a:ext cx="457200" cy="365760"/>
          </a:xfrm>
          <a:prstGeom prst="rect">
            <a:avLst/>
          </a:prstGeom>
          <a:noFill/>
        </p:spPr>
        <p:txBody>
          <a:bodyPr wrap="square">
            <a:spAutoFit/>
          </a:bodyPr>
          <a:lstStyle/>
          <a:p>
            <a:pPr algn="ctr"/>
            <a:r>
              <a:rPr sz="2000" b="1" i="0">
                <a:solidFill>
                  <a:srgbClr val="FFD714"/>
                </a:solidFill>
                <a:latin typeface="Calibri"/>
              </a:rPr>
              <a:t>→</a:t>
            </a:r>
          </a:p>
        </p:txBody>
      </p:sp>
      <p:sp>
        <p:nvSpPr>
          <p:cNvPr id="19" name="Rectangle 18"/>
          <p:cNvSpPr/>
          <p:nvPr/>
        </p:nvSpPr>
        <p:spPr>
          <a:xfrm>
            <a:off x="2286000" y="3017520"/>
            <a:ext cx="3383280" cy="1371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3017520"/>
            <a:ext cx="3383280" cy="6400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23160" y="3154680"/>
            <a:ext cx="3108960" cy="502920"/>
          </a:xfrm>
          <a:prstGeom prst="rect">
            <a:avLst/>
          </a:prstGeom>
          <a:noFill/>
        </p:spPr>
        <p:txBody>
          <a:bodyPr wrap="square">
            <a:spAutoFit/>
          </a:bodyPr>
          <a:lstStyle/>
          <a:p>
            <a:pPr algn="l"/>
            <a:r>
              <a:rPr sz="1400" b="1" i="0">
                <a:solidFill>
                  <a:srgbClr val="FFD714"/>
                </a:solidFill>
                <a:latin typeface="Calibri"/>
              </a:rPr>
              <a:t>Vault Enterprise
:8200</a:t>
            </a:r>
          </a:p>
        </p:txBody>
      </p:sp>
      <p:sp>
        <p:nvSpPr>
          <p:cNvPr id="22" name="TextBox 21"/>
          <p:cNvSpPr txBox="1"/>
          <p:nvPr/>
        </p:nvSpPr>
        <p:spPr>
          <a:xfrm>
            <a:off x="2423160" y="3611880"/>
            <a:ext cx="3108960" cy="594360"/>
          </a:xfrm>
          <a:prstGeom prst="rect">
            <a:avLst/>
          </a:prstGeom>
          <a:noFill/>
        </p:spPr>
        <p:txBody>
          <a:bodyPr wrap="square">
            <a:spAutoFit/>
          </a:bodyPr>
          <a:lstStyle/>
          <a:p>
            <a:pPr algn="l"/>
            <a:r>
              <a:rPr sz="1100" b="0" i="0">
                <a:solidFill>
                  <a:srgbClr val="999999"/>
                </a:solidFill>
                <a:latin typeface="Calibri"/>
              </a:rPr>
              <a:t>JWT Auth · Policies
Dynamic DB Secrets</a:t>
            </a:r>
          </a:p>
        </p:txBody>
      </p:sp>
      <p:sp>
        <p:nvSpPr>
          <p:cNvPr id="23" name="Rectangle 22"/>
          <p:cNvSpPr/>
          <p:nvPr/>
        </p:nvSpPr>
        <p:spPr>
          <a:xfrm>
            <a:off x="6858000" y="3017520"/>
            <a:ext cx="3383280" cy="1371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3017520"/>
            <a:ext cx="3383280" cy="64008"/>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95160" y="3154680"/>
            <a:ext cx="3108960" cy="502920"/>
          </a:xfrm>
          <a:prstGeom prst="rect">
            <a:avLst/>
          </a:prstGeom>
          <a:noFill/>
        </p:spPr>
        <p:txBody>
          <a:bodyPr wrap="square">
            <a:spAutoFit/>
          </a:bodyPr>
          <a:lstStyle/>
          <a:p>
            <a:pPr algn="l"/>
            <a:r>
              <a:rPr sz="1400" b="1" i="0">
                <a:solidFill>
                  <a:srgbClr val="42BE65"/>
                </a:solidFill>
                <a:latin typeface="Calibri"/>
              </a:rPr>
              <a:t>MongoDB
:27017</a:t>
            </a:r>
          </a:p>
        </p:txBody>
      </p:sp>
      <p:sp>
        <p:nvSpPr>
          <p:cNvPr id="26" name="TextBox 25"/>
          <p:cNvSpPr txBox="1"/>
          <p:nvPr/>
        </p:nvSpPr>
        <p:spPr>
          <a:xfrm>
            <a:off x="6995160" y="3611880"/>
            <a:ext cx="3108960" cy="594360"/>
          </a:xfrm>
          <a:prstGeom prst="rect">
            <a:avLst/>
          </a:prstGeom>
          <a:noFill/>
        </p:spPr>
        <p:txBody>
          <a:bodyPr wrap="square">
            <a:spAutoFit/>
          </a:bodyPr>
          <a:lstStyle/>
          <a:p>
            <a:pPr algn="l"/>
            <a:r>
              <a:rPr sz="1100" b="0" i="0">
                <a:solidFill>
                  <a:srgbClr val="999999"/>
                </a:solidFill>
                <a:latin typeface="Calibri"/>
              </a:rPr>
              <a:t>Products database
test.products collection</a:t>
            </a:r>
          </a:p>
        </p:txBody>
      </p:sp>
      <p:sp>
        <p:nvSpPr>
          <p:cNvPr id="27" name="TextBox 26"/>
          <p:cNvSpPr txBox="1"/>
          <p:nvPr/>
        </p:nvSpPr>
        <p:spPr>
          <a:xfrm>
            <a:off x="5623560" y="2606040"/>
            <a:ext cx="457200" cy="365760"/>
          </a:xfrm>
          <a:prstGeom prst="rect">
            <a:avLst/>
          </a:prstGeom>
          <a:noFill/>
        </p:spPr>
        <p:txBody>
          <a:bodyPr wrap="square">
            <a:spAutoFit/>
          </a:bodyPr>
          <a:lstStyle/>
          <a:p>
            <a:pPr algn="ctr"/>
            <a:r>
              <a:rPr sz="2000" b="1" i="0">
                <a:solidFill>
                  <a:srgbClr val="FFD714"/>
                </a:solidFill>
                <a:latin typeface="Calibri"/>
              </a:rPr>
              <a:t>↓</a:t>
            </a:r>
          </a:p>
        </p:txBody>
      </p:sp>
      <p:sp>
        <p:nvSpPr>
          <p:cNvPr id="28" name="TextBox 27"/>
          <p:cNvSpPr txBox="1"/>
          <p:nvPr/>
        </p:nvSpPr>
        <p:spPr>
          <a:xfrm>
            <a:off x="5623560" y="2606040"/>
            <a:ext cx="457200" cy="365760"/>
          </a:xfrm>
          <a:prstGeom prst="rect">
            <a:avLst/>
          </a:prstGeom>
          <a:noFill/>
        </p:spPr>
        <p:txBody>
          <a:bodyPr wrap="square">
            <a:spAutoFit/>
          </a:bodyPr>
          <a:lstStyle/>
          <a:p>
            <a:pPr algn="ctr"/>
            <a:r>
              <a:rPr sz="2000" b="1" i="0">
                <a:solidFill>
                  <a:srgbClr val="FFD714"/>
                </a:solidFill>
                <a:latin typeface="Calibri"/>
              </a:rPr>
              <a:t>↓</a:t>
            </a:r>
          </a:p>
        </p:txBody>
      </p:sp>
      <p:sp>
        <p:nvSpPr>
          <p:cNvPr id="29" name="TextBox 28"/>
          <p:cNvSpPr txBox="1"/>
          <p:nvPr/>
        </p:nvSpPr>
        <p:spPr>
          <a:xfrm>
            <a:off x="5669280" y="3520440"/>
            <a:ext cx="1188720" cy="365760"/>
          </a:xfrm>
          <a:prstGeom prst="rect">
            <a:avLst/>
          </a:prstGeom>
          <a:noFill/>
        </p:spPr>
        <p:txBody>
          <a:bodyPr wrap="square">
            <a:spAutoFit/>
          </a:bodyPr>
          <a:lstStyle/>
          <a:p>
            <a:pPr algn="ctr"/>
            <a:r>
              <a:rPr sz="1000" b="0" i="0">
                <a:solidFill>
                  <a:srgbClr val="FFD714"/>
                </a:solidFill>
                <a:latin typeface="Calibri"/>
              </a:rPr>
              <a:t>→  dynamic creds  →</a:t>
            </a:r>
          </a:p>
        </p:txBody>
      </p:sp>
      <p:sp>
        <p:nvSpPr>
          <p:cNvPr id="30" name="Rectangle 29"/>
          <p:cNvSpPr/>
          <p:nvPr/>
        </p:nvSpPr>
        <p:spPr>
          <a:xfrm>
            <a:off x="457200" y="4663440"/>
            <a:ext cx="11247120" cy="12801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09160"/>
            <a:ext cx="5486400" cy="320040"/>
          </a:xfrm>
          <a:prstGeom prst="rect">
            <a:avLst/>
          </a:prstGeom>
          <a:noFill/>
        </p:spPr>
        <p:txBody>
          <a:bodyPr wrap="square">
            <a:spAutoFit/>
          </a:bodyPr>
          <a:lstStyle/>
          <a:p>
            <a:pPr algn="l"/>
            <a:r>
              <a:rPr sz="1100" b="1" i="0">
                <a:solidFill>
                  <a:srgbClr val="999999"/>
                </a:solidFill>
                <a:latin typeface="Calibri"/>
              </a:rPr>
              <a:t>External Services (required)</a:t>
            </a:r>
          </a:p>
        </p:txBody>
      </p:sp>
      <p:sp>
        <p:nvSpPr>
          <p:cNvPr id="32" name="TextBox 31"/>
          <p:cNvSpPr txBox="1"/>
          <p:nvPr/>
        </p:nvSpPr>
        <p:spPr>
          <a:xfrm>
            <a:off x="777240" y="5120640"/>
            <a:ext cx="10698480" cy="548640"/>
          </a:xfrm>
          <a:prstGeom prst="rect">
            <a:avLst/>
          </a:prstGeom>
          <a:noFill/>
        </p:spPr>
        <p:txBody>
          <a:bodyPr wrap="square">
            <a:spAutoFit/>
          </a:bodyPr>
          <a:lstStyle/>
          <a:p>
            <a:pPr>
              <a:spcBef>
                <a:spcPts val="400"/>
              </a:spcBef>
            </a:pPr>
            <a:r>
              <a:rPr sz="1100">
                <a:solidFill>
                  <a:srgbClr val="FFFFFF"/>
                </a:solidFill>
              </a:rPr>
              <a:t>▸  Microsoft Entra ID — OIDC login + OBO token exchange (identity provider)</a:t>
            </a:r>
          </a:p>
          <a:p>
            <a:pPr>
              <a:spcBef>
                <a:spcPts val="400"/>
              </a:spcBef>
            </a:pPr>
            <a:r>
              <a:rPr sz="1100">
                <a:solidFill>
                  <a:srgbClr val="FFFFFF"/>
                </a:solidFill>
              </a:rPr>
              <a:t>▸  AWS Bedrock / Anthropic API — Claude LLM for natural language agent processing</a:t>
            </a:r>
          </a:p>
        </p:txBody>
      </p:sp>
      <p:sp>
        <p:nvSpPr>
          <p:cNvPr id="33" name="TextBox 32"/>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34" name="TextBox 33"/>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Identity Flow: OBO Token Chain</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How user identity propagates to the database credential</a:t>
            </a:r>
          </a:p>
        </p:txBody>
      </p:sp>
      <p:sp>
        <p:nvSpPr>
          <p:cNvPr id="5" name="Rectangle 4"/>
          <p:cNvSpPr/>
          <p:nvPr/>
        </p:nvSpPr>
        <p:spPr>
          <a:xfrm>
            <a:off x="457200" y="1280160"/>
            <a:ext cx="411480" cy="4572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411480" cy="457200"/>
          </a:xfrm>
          <a:prstGeom prst="rect">
            <a:avLst/>
          </a:prstGeom>
          <a:noFill/>
        </p:spPr>
        <p:txBody>
          <a:bodyPr wrap="square">
            <a:spAutoFit/>
          </a:bodyPr>
          <a:lstStyle/>
          <a:p>
            <a:pPr algn="ctr"/>
            <a:r>
              <a:rPr sz="1400" b="1" i="0">
                <a:solidFill>
                  <a:srgbClr val="000000"/>
                </a:solidFill>
                <a:latin typeface="Calibri"/>
              </a:rPr>
              <a:t>1</a:t>
            </a:r>
          </a:p>
        </p:txBody>
      </p:sp>
      <p:sp>
        <p:nvSpPr>
          <p:cNvPr id="7" name="TextBox 6"/>
          <p:cNvSpPr txBox="1"/>
          <p:nvPr/>
        </p:nvSpPr>
        <p:spPr>
          <a:xfrm>
            <a:off x="960120" y="1280160"/>
            <a:ext cx="3200400" cy="228600"/>
          </a:xfrm>
          <a:prstGeom prst="rect">
            <a:avLst/>
          </a:prstGeom>
          <a:noFill/>
        </p:spPr>
        <p:txBody>
          <a:bodyPr wrap="square">
            <a:spAutoFit/>
          </a:bodyPr>
          <a:lstStyle/>
          <a:p>
            <a:pPr algn="l"/>
            <a:r>
              <a:rPr sz="1100" b="1" i="0">
                <a:solidFill>
                  <a:srgbClr val="0F62FE"/>
                </a:solidFill>
                <a:latin typeface="Calibri"/>
              </a:rPr>
              <a:t>Browser → products-web</a:t>
            </a:r>
          </a:p>
        </p:txBody>
      </p:sp>
      <p:sp>
        <p:nvSpPr>
          <p:cNvPr id="8" name="TextBox 7"/>
          <p:cNvSpPr txBox="1"/>
          <p:nvPr/>
        </p:nvSpPr>
        <p:spPr>
          <a:xfrm>
            <a:off x="960120" y="1508760"/>
            <a:ext cx="10515600" cy="384048"/>
          </a:xfrm>
          <a:prstGeom prst="rect">
            <a:avLst/>
          </a:prstGeom>
          <a:noFill/>
        </p:spPr>
        <p:txBody>
          <a:bodyPr wrap="square">
            <a:spAutoFit/>
          </a:bodyPr>
          <a:lstStyle/>
          <a:p>
            <a:pPr algn="l"/>
            <a:r>
              <a:rPr sz="1000" b="0" i="0">
                <a:solidFill>
                  <a:srgbClr val="FFFFFF"/>
                </a:solidFill>
                <a:latin typeface="Calibri"/>
              </a:rPr>
              <a:t>User clicks Login → redirected to Entra ID OIDC endpoint</a:t>
            </a:r>
          </a:p>
        </p:txBody>
      </p:sp>
      <p:sp>
        <p:nvSpPr>
          <p:cNvPr id="9" name="Rectangle 8"/>
          <p:cNvSpPr/>
          <p:nvPr/>
        </p:nvSpPr>
        <p:spPr>
          <a:xfrm>
            <a:off x="457200" y="1874519"/>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38528"/>
            <a:ext cx="411480" cy="4572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38528"/>
            <a:ext cx="411480" cy="457200"/>
          </a:xfrm>
          <a:prstGeom prst="rect">
            <a:avLst/>
          </a:prstGeom>
          <a:noFill/>
        </p:spPr>
        <p:txBody>
          <a:bodyPr wrap="square">
            <a:spAutoFit/>
          </a:bodyPr>
          <a:lstStyle/>
          <a:p>
            <a:pPr algn="ctr"/>
            <a:r>
              <a:rPr sz="1400" b="1" i="0">
                <a:solidFill>
                  <a:srgbClr val="000000"/>
                </a:solidFill>
                <a:latin typeface="Calibri"/>
              </a:rPr>
              <a:t>2</a:t>
            </a:r>
          </a:p>
        </p:txBody>
      </p:sp>
      <p:sp>
        <p:nvSpPr>
          <p:cNvPr id="12" name="TextBox 11"/>
          <p:cNvSpPr txBox="1"/>
          <p:nvPr/>
        </p:nvSpPr>
        <p:spPr>
          <a:xfrm>
            <a:off x="960120" y="1938528"/>
            <a:ext cx="3200400" cy="228600"/>
          </a:xfrm>
          <a:prstGeom prst="rect">
            <a:avLst/>
          </a:prstGeom>
          <a:noFill/>
        </p:spPr>
        <p:txBody>
          <a:bodyPr wrap="square">
            <a:spAutoFit/>
          </a:bodyPr>
          <a:lstStyle/>
          <a:p>
            <a:pPr algn="l"/>
            <a:r>
              <a:rPr sz="1100" b="1" i="0">
                <a:solidFill>
                  <a:srgbClr val="0F62FE"/>
                </a:solidFill>
                <a:latin typeface="Calibri"/>
              </a:rPr>
              <a:t>products-web → products-agent</a:t>
            </a:r>
          </a:p>
        </p:txBody>
      </p:sp>
      <p:sp>
        <p:nvSpPr>
          <p:cNvPr id="13" name="TextBox 12"/>
          <p:cNvSpPr txBox="1"/>
          <p:nvPr/>
        </p:nvSpPr>
        <p:spPr>
          <a:xfrm>
            <a:off x="960120" y="2167128"/>
            <a:ext cx="10515600" cy="384048"/>
          </a:xfrm>
          <a:prstGeom prst="rect">
            <a:avLst/>
          </a:prstGeom>
          <a:noFill/>
        </p:spPr>
        <p:txBody>
          <a:bodyPr wrap="square">
            <a:spAutoFit/>
          </a:bodyPr>
          <a:lstStyle/>
          <a:p>
            <a:pPr algn="l"/>
            <a:r>
              <a:rPr sz="1000" b="0" i="0">
                <a:solidFill>
                  <a:srgbClr val="FFFFFF"/>
                </a:solidFill>
                <a:latin typeface="Calibri"/>
              </a:rPr>
              <a:t>Chat request + user's access token (JWT) forwarded to agent</a:t>
            </a:r>
          </a:p>
        </p:txBody>
      </p:sp>
      <p:sp>
        <p:nvSpPr>
          <p:cNvPr id="14" name="Rectangle 13"/>
          <p:cNvSpPr/>
          <p:nvPr/>
        </p:nvSpPr>
        <p:spPr>
          <a:xfrm>
            <a:off x="457200" y="2532888"/>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96896"/>
            <a:ext cx="411480" cy="45720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96896"/>
            <a:ext cx="411480" cy="457200"/>
          </a:xfrm>
          <a:prstGeom prst="rect">
            <a:avLst/>
          </a:prstGeom>
          <a:noFill/>
        </p:spPr>
        <p:txBody>
          <a:bodyPr wrap="square">
            <a:spAutoFit/>
          </a:bodyPr>
          <a:lstStyle/>
          <a:p>
            <a:pPr algn="ctr"/>
            <a:r>
              <a:rPr sz="1400" b="1" i="0">
                <a:solidFill>
                  <a:srgbClr val="000000"/>
                </a:solidFill>
                <a:latin typeface="Calibri"/>
              </a:rPr>
              <a:t>3</a:t>
            </a:r>
          </a:p>
        </p:txBody>
      </p:sp>
      <p:sp>
        <p:nvSpPr>
          <p:cNvPr id="17" name="TextBox 16"/>
          <p:cNvSpPr txBox="1"/>
          <p:nvPr/>
        </p:nvSpPr>
        <p:spPr>
          <a:xfrm>
            <a:off x="960120" y="2596896"/>
            <a:ext cx="3200400" cy="228600"/>
          </a:xfrm>
          <a:prstGeom prst="rect">
            <a:avLst/>
          </a:prstGeom>
          <a:noFill/>
        </p:spPr>
        <p:txBody>
          <a:bodyPr wrap="square">
            <a:spAutoFit/>
          </a:bodyPr>
          <a:lstStyle/>
          <a:p>
            <a:pPr algn="l"/>
            <a:r>
              <a:rPr sz="1100" b="1" i="0">
                <a:solidFill>
                  <a:srgbClr val="FFD714"/>
                </a:solidFill>
                <a:latin typeface="Calibri"/>
              </a:rPr>
              <a:t>products-agent → Entra ID</a:t>
            </a:r>
          </a:p>
        </p:txBody>
      </p:sp>
      <p:sp>
        <p:nvSpPr>
          <p:cNvPr id="18" name="TextBox 17"/>
          <p:cNvSpPr txBox="1"/>
          <p:nvPr/>
        </p:nvSpPr>
        <p:spPr>
          <a:xfrm>
            <a:off x="960120" y="2825496"/>
            <a:ext cx="10515600" cy="384048"/>
          </a:xfrm>
          <a:prstGeom prst="rect">
            <a:avLst/>
          </a:prstGeom>
          <a:noFill/>
        </p:spPr>
        <p:txBody>
          <a:bodyPr wrap="square">
            <a:spAutoFit/>
          </a:bodyPr>
          <a:lstStyle/>
          <a:p>
            <a:pPr algn="l"/>
            <a:r>
              <a:rPr sz="1000" b="0" i="0">
                <a:solidFill>
                  <a:srgbClr val="FFFFFF"/>
                </a:solidFill>
                <a:latin typeface="Calibri"/>
              </a:rPr>
              <a:t>OBO exchange: jwt-bearer grant → Entra returns OBO token
representing delegated user identity (groups claim included)</a:t>
            </a:r>
          </a:p>
        </p:txBody>
      </p:sp>
      <p:sp>
        <p:nvSpPr>
          <p:cNvPr id="19" name="Rectangle 18"/>
          <p:cNvSpPr/>
          <p:nvPr/>
        </p:nvSpPr>
        <p:spPr>
          <a:xfrm>
            <a:off x="457200" y="3191256"/>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255264"/>
            <a:ext cx="411480" cy="45720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55264"/>
            <a:ext cx="411480" cy="457200"/>
          </a:xfrm>
          <a:prstGeom prst="rect">
            <a:avLst/>
          </a:prstGeom>
          <a:noFill/>
        </p:spPr>
        <p:txBody>
          <a:bodyPr wrap="square">
            <a:spAutoFit/>
          </a:bodyPr>
          <a:lstStyle/>
          <a:p>
            <a:pPr algn="ctr"/>
            <a:r>
              <a:rPr sz="1400" b="1" i="0">
                <a:solidFill>
                  <a:srgbClr val="000000"/>
                </a:solidFill>
                <a:latin typeface="Calibri"/>
              </a:rPr>
              <a:t>4</a:t>
            </a:r>
          </a:p>
        </p:txBody>
      </p:sp>
      <p:sp>
        <p:nvSpPr>
          <p:cNvPr id="22" name="TextBox 21"/>
          <p:cNvSpPr txBox="1"/>
          <p:nvPr/>
        </p:nvSpPr>
        <p:spPr>
          <a:xfrm>
            <a:off x="960120" y="3255264"/>
            <a:ext cx="3200400" cy="228600"/>
          </a:xfrm>
          <a:prstGeom prst="rect">
            <a:avLst/>
          </a:prstGeom>
          <a:noFill/>
        </p:spPr>
        <p:txBody>
          <a:bodyPr wrap="square">
            <a:spAutoFit/>
          </a:bodyPr>
          <a:lstStyle/>
          <a:p>
            <a:pPr algn="l"/>
            <a:r>
              <a:rPr sz="1100" b="1" i="0">
                <a:solidFill>
                  <a:srgbClr val="FFD714"/>
                </a:solidFill>
                <a:latin typeface="Calibri"/>
              </a:rPr>
              <a:t>products-agent → products-mcp</a:t>
            </a:r>
          </a:p>
        </p:txBody>
      </p:sp>
      <p:sp>
        <p:nvSpPr>
          <p:cNvPr id="23" name="TextBox 22"/>
          <p:cNvSpPr txBox="1"/>
          <p:nvPr/>
        </p:nvSpPr>
        <p:spPr>
          <a:xfrm>
            <a:off x="960120" y="3483864"/>
            <a:ext cx="10515600" cy="384048"/>
          </a:xfrm>
          <a:prstGeom prst="rect">
            <a:avLst/>
          </a:prstGeom>
          <a:noFill/>
        </p:spPr>
        <p:txBody>
          <a:bodyPr wrap="square">
            <a:spAutoFit/>
          </a:bodyPr>
          <a:lstStyle/>
          <a:p>
            <a:pPr algn="l"/>
            <a:r>
              <a:rPr sz="1000" b="0" i="0">
                <a:solidFill>
                  <a:srgbClr val="FFFFFF"/>
                </a:solidFill>
                <a:latin typeface="Calibri"/>
              </a:rPr>
              <a:t>MCP tool call forwarded with OBO token</a:t>
            </a:r>
          </a:p>
        </p:txBody>
      </p:sp>
      <p:sp>
        <p:nvSpPr>
          <p:cNvPr id="24" name="Rectangle 23"/>
          <p:cNvSpPr/>
          <p:nvPr/>
        </p:nvSpPr>
        <p:spPr>
          <a:xfrm>
            <a:off x="457200" y="3849624"/>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13631"/>
            <a:ext cx="411480" cy="45720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913631"/>
            <a:ext cx="411480" cy="457200"/>
          </a:xfrm>
          <a:prstGeom prst="rect">
            <a:avLst/>
          </a:prstGeom>
          <a:noFill/>
        </p:spPr>
        <p:txBody>
          <a:bodyPr wrap="square">
            <a:spAutoFit/>
          </a:bodyPr>
          <a:lstStyle/>
          <a:p>
            <a:pPr algn="ctr"/>
            <a:r>
              <a:rPr sz="1400" b="1" i="0">
                <a:solidFill>
                  <a:srgbClr val="000000"/>
                </a:solidFill>
                <a:latin typeface="Calibri"/>
              </a:rPr>
              <a:t>5</a:t>
            </a:r>
          </a:p>
        </p:txBody>
      </p:sp>
      <p:sp>
        <p:nvSpPr>
          <p:cNvPr id="27" name="TextBox 26"/>
          <p:cNvSpPr txBox="1"/>
          <p:nvPr/>
        </p:nvSpPr>
        <p:spPr>
          <a:xfrm>
            <a:off x="960120" y="3913631"/>
            <a:ext cx="3200400" cy="228600"/>
          </a:xfrm>
          <a:prstGeom prst="rect">
            <a:avLst/>
          </a:prstGeom>
          <a:noFill/>
        </p:spPr>
        <p:txBody>
          <a:bodyPr wrap="square">
            <a:spAutoFit/>
          </a:bodyPr>
          <a:lstStyle/>
          <a:p>
            <a:pPr algn="l"/>
            <a:r>
              <a:rPr sz="1100" b="1" i="0">
                <a:solidFill>
                  <a:srgbClr val="FFD714"/>
                </a:solidFill>
                <a:latin typeface="Calibri"/>
              </a:rPr>
              <a:t>products-mcp → Vault</a:t>
            </a:r>
          </a:p>
        </p:txBody>
      </p:sp>
      <p:sp>
        <p:nvSpPr>
          <p:cNvPr id="28" name="TextBox 27"/>
          <p:cNvSpPr txBox="1"/>
          <p:nvPr/>
        </p:nvSpPr>
        <p:spPr>
          <a:xfrm>
            <a:off x="960120" y="4142231"/>
            <a:ext cx="10515600" cy="384048"/>
          </a:xfrm>
          <a:prstGeom prst="rect">
            <a:avLst/>
          </a:prstGeom>
          <a:noFill/>
        </p:spPr>
        <p:txBody>
          <a:bodyPr wrap="square">
            <a:spAutoFit/>
          </a:bodyPr>
          <a:lstStyle/>
          <a:p>
            <a:pPr algn="l"/>
            <a:r>
              <a:rPr sz="1000" b="0" i="0">
                <a:solidFill>
                  <a:srgbClr val="FFFFFF"/>
                </a:solidFill>
                <a:latin typeface="Calibri"/>
              </a:rPr>
              <a:t>JWT login: vault write auth/jwt/login
Vault validates signature via Entra ID JWKS endpoint</a:t>
            </a:r>
          </a:p>
        </p:txBody>
      </p:sp>
      <p:sp>
        <p:nvSpPr>
          <p:cNvPr id="29" name="Rectangle 28"/>
          <p:cNvSpPr/>
          <p:nvPr/>
        </p:nvSpPr>
        <p:spPr>
          <a:xfrm>
            <a:off x="457200" y="4507992"/>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572000"/>
            <a:ext cx="411480" cy="45720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572000"/>
            <a:ext cx="411480" cy="457200"/>
          </a:xfrm>
          <a:prstGeom prst="rect">
            <a:avLst/>
          </a:prstGeom>
          <a:noFill/>
        </p:spPr>
        <p:txBody>
          <a:bodyPr wrap="square">
            <a:spAutoFit/>
          </a:bodyPr>
          <a:lstStyle/>
          <a:p>
            <a:pPr algn="ctr"/>
            <a:r>
              <a:rPr sz="1400" b="1" i="0">
                <a:solidFill>
                  <a:srgbClr val="000000"/>
                </a:solidFill>
                <a:latin typeface="Calibri"/>
              </a:rPr>
              <a:t>6</a:t>
            </a:r>
          </a:p>
        </p:txBody>
      </p:sp>
      <p:sp>
        <p:nvSpPr>
          <p:cNvPr id="32" name="TextBox 31"/>
          <p:cNvSpPr txBox="1"/>
          <p:nvPr/>
        </p:nvSpPr>
        <p:spPr>
          <a:xfrm>
            <a:off x="960120" y="4572000"/>
            <a:ext cx="3200400" cy="228600"/>
          </a:xfrm>
          <a:prstGeom prst="rect">
            <a:avLst/>
          </a:prstGeom>
          <a:noFill/>
        </p:spPr>
        <p:txBody>
          <a:bodyPr wrap="square">
            <a:spAutoFit/>
          </a:bodyPr>
          <a:lstStyle/>
          <a:p>
            <a:pPr algn="l"/>
            <a:r>
              <a:rPr sz="1100" b="1" i="0">
                <a:solidFill>
                  <a:srgbClr val="FFD714"/>
                </a:solidFill>
                <a:latin typeface="Calibri"/>
              </a:rPr>
              <a:t>Vault (internal)</a:t>
            </a:r>
          </a:p>
        </p:txBody>
      </p:sp>
      <p:sp>
        <p:nvSpPr>
          <p:cNvPr id="33" name="TextBox 32"/>
          <p:cNvSpPr txBox="1"/>
          <p:nvPr/>
        </p:nvSpPr>
        <p:spPr>
          <a:xfrm>
            <a:off x="960120" y="4800600"/>
            <a:ext cx="10515600" cy="384048"/>
          </a:xfrm>
          <a:prstGeom prst="rect">
            <a:avLst/>
          </a:prstGeom>
          <a:noFill/>
        </p:spPr>
        <p:txBody>
          <a:bodyPr wrap="square">
            <a:spAutoFit/>
          </a:bodyPr>
          <a:lstStyle/>
          <a:p>
            <a:pPr algn="l"/>
            <a:r>
              <a:rPr sz="1000" b="0" i="0">
                <a:solidFill>
                  <a:srgbClr val="FFFFFF"/>
                </a:solidFill>
                <a:latin typeface="Calibri"/>
              </a:rPr>
              <a:t>Extracts groups claim → matches identity group alias
→ applies readonly or readwrite policy</a:t>
            </a:r>
          </a:p>
        </p:txBody>
      </p:sp>
      <p:sp>
        <p:nvSpPr>
          <p:cNvPr id="34" name="Rectangle 33"/>
          <p:cNvSpPr/>
          <p:nvPr/>
        </p:nvSpPr>
        <p:spPr>
          <a:xfrm>
            <a:off x="457200" y="5166360"/>
            <a:ext cx="11247120" cy="914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5230368"/>
            <a:ext cx="411480" cy="457200"/>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230368"/>
            <a:ext cx="411480" cy="457200"/>
          </a:xfrm>
          <a:prstGeom prst="rect">
            <a:avLst/>
          </a:prstGeom>
          <a:noFill/>
        </p:spPr>
        <p:txBody>
          <a:bodyPr wrap="square">
            <a:spAutoFit/>
          </a:bodyPr>
          <a:lstStyle/>
          <a:p>
            <a:pPr algn="ctr"/>
            <a:r>
              <a:rPr sz="1400" b="1" i="0">
                <a:solidFill>
                  <a:srgbClr val="000000"/>
                </a:solidFill>
                <a:latin typeface="Calibri"/>
              </a:rPr>
              <a:t>7</a:t>
            </a:r>
          </a:p>
        </p:txBody>
      </p:sp>
      <p:sp>
        <p:nvSpPr>
          <p:cNvPr id="37" name="TextBox 36"/>
          <p:cNvSpPr txBox="1"/>
          <p:nvPr/>
        </p:nvSpPr>
        <p:spPr>
          <a:xfrm>
            <a:off x="960120" y="5230368"/>
            <a:ext cx="3200400" cy="228600"/>
          </a:xfrm>
          <a:prstGeom prst="rect">
            <a:avLst/>
          </a:prstGeom>
          <a:noFill/>
        </p:spPr>
        <p:txBody>
          <a:bodyPr wrap="square">
            <a:spAutoFit/>
          </a:bodyPr>
          <a:lstStyle/>
          <a:p>
            <a:pPr algn="l"/>
            <a:r>
              <a:rPr sz="1100" b="1" i="0">
                <a:solidFill>
                  <a:srgbClr val="42BE65"/>
                </a:solidFill>
                <a:latin typeface="Calibri"/>
              </a:rPr>
              <a:t>products-mcp → MongoDB</a:t>
            </a:r>
          </a:p>
        </p:txBody>
      </p:sp>
      <p:sp>
        <p:nvSpPr>
          <p:cNvPr id="38" name="TextBox 37"/>
          <p:cNvSpPr txBox="1"/>
          <p:nvPr/>
        </p:nvSpPr>
        <p:spPr>
          <a:xfrm>
            <a:off x="960120" y="5458968"/>
            <a:ext cx="10515600" cy="384048"/>
          </a:xfrm>
          <a:prstGeom prst="rect">
            <a:avLst/>
          </a:prstGeom>
          <a:noFill/>
        </p:spPr>
        <p:txBody>
          <a:bodyPr wrap="square">
            <a:spAutoFit/>
          </a:bodyPr>
          <a:lstStyle/>
          <a:p>
            <a:pPr algn="l"/>
            <a:r>
              <a:rPr sz="1000" b="0" i="0">
                <a:solidFill>
                  <a:srgbClr val="FFFFFF"/>
                </a:solidFill>
                <a:latin typeface="Calibri"/>
              </a:rPr>
              <a:t>Connects with dynamic credential (5-min TTL)
Vault auto-revokes user on expiry</a:t>
            </a:r>
          </a:p>
        </p:txBody>
      </p:sp>
      <p:sp>
        <p:nvSpPr>
          <p:cNvPr id="39" name="TextBox 38"/>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40" name="TextBox 39"/>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Demo Setup: Environment Ready</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All services running — infrastructure configured by Terraform + Ansible</a:t>
            </a:r>
          </a:p>
        </p:txBody>
      </p:sp>
      <p:sp>
        <p:nvSpPr>
          <p:cNvPr id="5" name="Rectangle 4"/>
          <p:cNvSpPr/>
          <p:nvPr/>
        </p:nvSpPr>
        <p:spPr>
          <a:xfrm>
            <a:off x="457200" y="1234440"/>
            <a:ext cx="5303520"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4937760" cy="365760"/>
          </a:xfrm>
          <a:prstGeom prst="rect">
            <a:avLst/>
          </a:prstGeom>
          <a:noFill/>
        </p:spPr>
        <p:txBody>
          <a:bodyPr wrap="square">
            <a:spAutoFit/>
          </a:bodyPr>
          <a:lstStyle/>
          <a:p>
            <a:pPr algn="l"/>
            <a:r>
              <a:rPr sz="1400" b="1" i="0">
                <a:solidFill>
                  <a:srgbClr val="FFD714"/>
                </a:solidFill>
                <a:latin typeface="Calibri"/>
              </a:rPr>
              <a:t>Running Services</a:t>
            </a:r>
          </a:p>
        </p:txBody>
      </p:sp>
      <p:sp>
        <p:nvSpPr>
          <p:cNvPr id="7" name="TextBox 6"/>
          <p:cNvSpPr txBox="1"/>
          <p:nvPr/>
        </p:nvSpPr>
        <p:spPr>
          <a:xfrm>
            <a:off x="640080" y="1783080"/>
            <a:ext cx="2560320" cy="320040"/>
          </a:xfrm>
          <a:prstGeom prst="rect">
            <a:avLst/>
          </a:prstGeom>
          <a:noFill/>
        </p:spPr>
        <p:txBody>
          <a:bodyPr wrap="square">
            <a:spAutoFit/>
          </a:bodyPr>
          <a:lstStyle/>
          <a:p>
            <a:pPr algn="l"/>
            <a:r>
              <a:rPr sz="1200" b="0" i="0">
                <a:solidFill>
                  <a:srgbClr val="42BE65"/>
                </a:solidFill>
                <a:latin typeface="Calibri"/>
              </a:rPr>
              <a:t>●  products-web</a:t>
            </a:r>
          </a:p>
        </p:txBody>
      </p:sp>
      <p:sp>
        <p:nvSpPr>
          <p:cNvPr id="8" name="TextBox 7"/>
          <p:cNvSpPr txBox="1"/>
          <p:nvPr/>
        </p:nvSpPr>
        <p:spPr>
          <a:xfrm>
            <a:off x="3200400" y="1783080"/>
            <a:ext cx="2377440" cy="320040"/>
          </a:xfrm>
          <a:prstGeom prst="rect">
            <a:avLst/>
          </a:prstGeom>
          <a:noFill/>
        </p:spPr>
        <p:txBody>
          <a:bodyPr wrap="square">
            <a:spAutoFit/>
          </a:bodyPr>
          <a:lstStyle/>
          <a:p>
            <a:pPr algn="l"/>
            <a:r>
              <a:rPr sz="1000" b="0" i="0">
                <a:solidFill>
                  <a:srgbClr val="999999"/>
                </a:solidFill>
                <a:latin typeface="Calibri"/>
              </a:rPr>
              <a:t>http://localhost:8501</a:t>
            </a:r>
          </a:p>
        </p:txBody>
      </p:sp>
      <p:sp>
        <p:nvSpPr>
          <p:cNvPr id="9" name="TextBox 8"/>
          <p:cNvSpPr txBox="1"/>
          <p:nvPr/>
        </p:nvSpPr>
        <p:spPr>
          <a:xfrm>
            <a:off x="640080" y="2167128"/>
            <a:ext cx="2560320" cy="320040"/>
          </a:xfrm>
          <a:prstGeom prst="rect">
            <a:avLst/>
          </a:prstGeom>
          <a:noFill/>
        </p:spPr>
        <p:txBody>
          <a:bodyPr wrap="square">
            <a:spAutoFit/>
          </a:bodyPr>
          <a:lstStyle/>
          <a:p>
            <a:pPr algn="l"/>
            <a:r>
              <a:rPr sz="1200" b="0" i="0">
                <a:solidFill>
                  <a:srgbClr val="42BE65"/>
                </a:solidFill>
                <a:latin typeface="Calibri"/>
              </a:rPr>
              <a:t>●  products-agent</a:t>
            </a:r>
          </a:p>
        </p:txBody>
      </p:sp>
      <p:sp>
        <p:nvSpPr>
          <p:cNvPr id="10" name="TextBox 9"/>
          <p:cNvSpPr txBox="1"/>
          <p:nvPr/>
        </p:nvSpPr>
        <p:spPr>
          <a:xfrm>
            <a:off x="3200400" y="2167128"/>
            <a:ext cx="2377440" cy="320040"/>
          </a:xfrm>
          <a:prstGeom prst="rect">
            <a:avLst/>
          </a:prstGeom>
          <a:noFill/>
        </p:spPr>
        <p:txBody>
          <a:bodyPr wrap="square">
            <a:spAutoFit/>
          </a:bodyPr>
          <a:lstStyle/>
          <a:p>
            <a:pPr algn="l"/>
            <a:r>
              <a:rPr sz="1000" b="0" i="0">
                <a:solidFill>
                  <a:srgbClr val="999999"/>
                </a:solidFill>
                <a:latin typeface="Calibri"/>
              </a:rPr>
              <a:t>http://localhost:8001</a:t>
            </a:r>
          </a:p>
        </p:txBody>
      </p:sp>
      <p:sp>
        <p:nvSpPr>
          <p:cNvPr id="11" name="TextBox 10"/>
          <p:cNvSpPr txBox="1"/>
          <p:nvPr/>
        </p:nvSpPr>
        <p:spPr>
          <a:xfrm>
            <a:off x="640080" y="2551176"/>
            <a:ext cx="2560320" cy="320040"/>
          </a:xfrm>
          <a:prstGeom prst="rect">
            <a:avLst/>
          </a:prstGeom>
          <a:noFill/>
        </p:spPr>
        <p:txBody>
          <a:bodyPr wrap="square">
            <a:spAutoFit/>
          </a:bodyPr>
          <a:lstStyle/>
          <a:p>
            <a:pPr algn="l"/>
            <a:r>
              <a:rPr sz="1200" b="0" i="0">
                <a:solidFill>
                  <a:srgbClr val="42BE65"/>
                </a:solidFill>
                <a:latin typeface="Calibri"/>
              </a:rPr>
              <a:t>●  products-mcp</a:t>
            </a:r>
          </a:p>
        </p:txBody>
      </p:sp>
      <p:sp>
        <p:nvSpPr>
          <p:cNvPr id="12" name="TextBox 11"/>
          <p:cNvSpPr txBox="1"/>
          <p:nvPr/>
        </p:nvSpPr>
        <p:spPr>
          <a:xfrm>
            <a:off x="3200400" y="2551176"/>
            <a:ext cx="2377440" cy="320040"/>
          </a:xfrm>
          <a:prstGeom prst="rect">
            <a:avLst/>
          </a:prstGeom>
          <a:noFill/>
        </p:spPr>
        <p:txBody>
          <a:bodyPr wrap="square">
            <a:spAutoFit/>
          </a:bodyPr>
          <a:lstStyle/>
          <a:p>
            <a:pPr algn="l"/>
            <a:r>
              <a:rPr sz="1000" b="0" i="0">
                <a:solidFill>
                  <a:srgbClr val="999999"/>
                </a:solidFill>
                <a:latin typeface="Calibri"/>
              </a:rPr>
              <a:t>http://localhost:8000</a:t>
            </a:r>
          </a:p>
        </p:txBody>
      </p:sp>
      <p:sp>
        <p:nvSpPr>
          <p:cNvPr id="13" name="TextBox 12"/>
          <p:cNvSpPr txBox="1"/>
          <p:nvPr/>
        </p:nvSpPr>
        <p:spPr>
          <a:xfrm>
            <a:off x="640080" y="2935224"/>
            <a:ext cx="2560320" cy="320040"/>
          </a:xfrm>
          <a:prstGeom prst="rect">
            <a:avLst/>
          </a:prstGeom>
          <a:noFill/>
        </p:spPr>
        <p:txBody>
          <a:bodyPr wrap="square">
            <a:spAutoFit/>
          </a:bodyPr>
          <a:lstStyle/>
          <a:p>
            <a:pPr algn="l"/>
            <a:r>
              <a:rPr sz="1200" b="0" i="0">
                <a:solidFill>
                  <a:srgbClr val="42BE65"/>
                </a:solidFill>
                <a:latin typeface="Calibri"/>
              </a:rPr>
              <a:t>●  Vault Enterprise</a:t>
            </a:r>
          </a:p>
        </p:txBody>
      </p:sp>
      <p:sp>
        <p:nvSpPr>
          <p:cNvPr id="14" name="TextBox 13"/>
          <p:cNvSpPr txBox="1"/>
          <p:nvPr/>
        </p:nvSpPr>
        <p:spPr>
          <a:xfrm>
            <a:off x="3200400" y="2935224"/>
            <a:ext cx="2377440" cy="320040"/>
          </a:xfrm>
          <a:prstGeom prst="rect">
            <a:avLst/>
          </a:prstGeom>
          <a:noFill/>
        </p:spPr>
        <p:txBody>
          <a:bodyPr wrap="square">
            <a:spAutoFit/>
          </a:bodyPr>
          <a:lstStyle/>
          <a:p>
            <a:pPr algn="l"/>
            <a:r>
              <a:rPr sz="1000" b="0" i="0">
                <a:solidFill>
                  <a:srgbClr val="999999"/>
                </a:solidFill>
                <a:latin typeface="Calibri"/>
              </a:rPr>
              <a:t>http://127.0.0.1:8200/ui</a:t>
            </a:r>
          </a:p>
        </p:txBody>
      </p:sp>
      <p:sp>
        <p:nvSpPr>
          <p:cNvPr id="15" name="TextBox 14"/>
          <p:cNvSpPr txBox="1"/>
          <p:nvPr/>
        </p:nvSpPr>
        <p:spPr>
          <a:xfrm>
            <a:off x="640080" y="3319272"/>
            <a:ext cx="2560320" cy="320040"/>
          </a:xfrm>
          <a:prstGeom prst="rect">
            <a:avLst/>
          </a:prstGeom>
          <a:noFill/>
        </p:spPr>
        <p:txBody>
          <a:bodyPr wrap="square">
            <a:spAutoFit/>
          </a:bodyPr>
          <a:lstStyle/>
          <a:p>
            <a:pPr algn="l"/>
            <a:r>
              <a:rPr sz="1200" b="0" i="0">
                <a:solidFill>
                  <a:srgbClr val="42BE65"/>
                </a:solidFill>
                <a:latin typeface="Calibri"/>
              </a:rPr>
              <a:t>●  MongoDB</a:t>
            </a:r>
          </a:p>
        </p:txBody>
      </p:sp>
      <p:sp>
        <p:nvSpPr>
          <p:cNvPr id="16" name="TextBox 15"/>
          <p:cNvSpPr txBox="1"/>
          <p:nvPr/>
        </p:nvSpPr>
        <p:spPr>
          <a:xfrm>
            <a:off x="3200400" y="3319272"/>
            <a:ext cx="2377440" cy="320040"/>
          </a:xfrm>
          <a:prstGeom prst="rect">
            <a:avLst/>
          </a:prstGeom>
          <a:noFill/>
        </p:spPr>
        <p:txBody>
          <a:bodyPr wrap="square">
            <a:spAutoFit/>
          </a:bodyPr>
          <a:lstStyle/>
          <a:p>
            <a:pPr algn="l"/>
            <a:r>
              <a:rPr sz="1000" b="0" i="0">
                <a:solidFill>
                  <a:srgbClr val="999999"/>
                </a:solidFill>
                <a:latin typeface="Calibri"/>
              </a:rPr>
              <a:t>localhost:27017</a:t>
            </a:r>
          </a:p>
        </p:txBody>
      </p:sp>
      <p:sp>
        <p:nvSpPr>
          <p:cNvPr id="17" name="Rectangle 16"/>
          <p:cNvSpPr/>
          <p:nvPr/>
        </p:nvSpPr>
        <p:spPr>
          <a:xfrm>
            <a:off x="6126480" y="1234440"/>
            <a:ext cx="5577840" cy="219456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325880"/>
            <a:ext cx="5212080" cy="365760"/>
          </a:xfrm>
          <a:prstGeom prst="rect">
            <a:avLst/>
          </a:prstGeom>
          <a:noFill/>
        </p:spPr>
        <p:txBody>
          <a:bodyPr wrap="square">
            <a:spAutoFit/>
          </a:bodyPr>
          <a:lstStyle/>
          <a:p>
            <a:pPr algn="l"/>
            <a:r>
              <a:rPr sz="1400" b="1" i="0">
                <a:solidFill>
                  <a:srgbClr val="FFD714"/>
                </a:solidFill>
                <a:latin typeface="Calibri"/>
              </a:rPr>
              <a:t>Demo Users</a:t>
            </a:r>
          </a:p>
        </p:txBody>
      </p:sp>
      <p:sp>
        <p:nvSpPr>
          <p:cNvPr id="19" name="Rectangle 18"/>
          <p:cNvSpPr/>
          <p:nvPr/>
        </p:nvSpPr>
        <p:spPr>
          <a:xfrm>
            <a:off x="6309360" y="1737360"/>
            <a:ext cx="52120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783080"/>
            <a:ext cx="4937760" cy="274320"/>
          </a:xfrm>
          <a:prstGeom prst="rect">
            <a:avLst/>
          </a:prstGeom>
          <a:noFill/>
        </p:spPr>
        <p:txBody>
          <a:bodyPr wrap="square">
            <a:spAutoFit/>
          </a:bodyPr>
          <a:lstStyle/>
          <a:p>
            <a:pPr algn="l"/>
            <a:r>
              <a:rPr sz="1200" b="1" i="0">
                <a:solidFill>
                  <a:srgbClr val="0F62FE"/>
                </a:solidFill>
                <a:latin typeface="Calibri"/>
              </a:rPr>
              <a:t>Alice  (Read-Only)</a:t>
            </a:r>
          </a:p>
        </p:txBody>
      </p:sp>
      <p:sp>
        <p:nvSpPr>
          <p:cNvPr id="21" name="TextBox 20"/>
          <p:cNvSpPr txBox="1"/>
          <p:nvPr/>
        </p:nvSpPr>
        <p:spPr>
          <a:xfrm>
            <a:off x="6446520" y="2057400"/>
            <a:ext cx="4937760" cy="411480"/>
          </a:xfrm>
          <a:prstGeom prst="rect">
            <a:avLst/>
          </a:prstGeom>
          <a:noFill/>
        </p:spPr>
        <p:txBody>
          <a:bodyPr wrap="square">
            <a:spAutoFit/>
          </a:bodyPr>
          <a:lstStyle/>
          <a:p>
            <a:pPr algn="l"/>
            <a:r>
              <a:rPr sz="1000" b="0" i="0">
                <a:solidFill>
                  <a:srgbClr val="999999"/>
                </a:solidFill>
                <a:latin typeface="Calibri"/>
              </a:rPr>
              <a:t>alice@jlevings13gmail699.onmicrosoft.com
db-readonly group → readonly Vault policy</a:t>
            </a:r>
          </a:p>
        </p:txBody>
      </p:sp>
      <p:sp>
        <p:nvSpPr>
          <p:cNvPr id="22" name="Rectangle 21"/>
          <p:cNvSpPr/>
          <p:nvPr/>
        </p:nvSpPr>
        <p:spPr>
          <a:xfrm>
            <a:off x="6309360" y="2606040"/>
            <a:ext cx="52120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651760"/>
            <a:ext cx="4937760" cy="274320"/>
          </a:xfrm>
          <a:prstGeom prst="rect">
            <a:avLst/>
          </a:prstGeom>
          <a:noFill/>
        </p:spPr>
        <p:txBody>
          <a:bodyPr wrap="square">
            <a:spAutoFit/>
          </a:bodyPr>
          <a:lstStyle/>
          <a:p>
            <a:pPr algn="l"/>
            <a:r>
              <a:rPr sz="1200" b="1" i="0">
                <a:solidFill>
                  <a:srgbClr val="42BE65"/>
                </a:solidFill>
                <a:latin typeface="Calibri"/>
              </a:rPr>
              <a:t>Bob  (Read-Write)</a:t>
            </a:r>
          </a:p>
        </p:txBody>
      </p:sp>
      <p:sp>
        <p:nvSpPr>
          <p:cNvPr id="24" name="TextBox 23"/>
          <p:cNvSpPr txBox="1"/>
          <p:nvPr/>
        </p:nvSpPr>
        <p:spPr>
          <a:xfrm>
            <a:off x="6446520" y="2926080"/>
            <a:ext cx="4937760" cy="411480"/>
          </a:xfrm>
          <a:prstGeom prst="rect">
            <a:avLst/>
          </a:prstGeom>
          <a:noFill/>
        </p:spPr>
        <p:txBody>
          <a:bodyPr wrap="square">
            <a:spAutoFit/>
          </a:bodyPr>
          <a:lstStyle/>
          <a:p>
            <a:pPr algn="l"/>
            <a:r>
              <a:rPr sz="1000" b="0" i="0">
                <a:solidFill>
                  <a:srgbClr val="999999"/>
                </a:solidFill>
                <a:latin typeface="Calibri"/>
              </a:rPr>
              <a:t>bob@jlevings13gmail699.onmicrosoft.com
db-readwrite group → readwrite Vault policy</a:t>
            </a:r>
          </a:p>
        </p:txBody>
      </p:sp>
      <p:sp>
        <p:nvSpPr>
          <p:cNvPr id="25" name="Rectangle 24"/>
          <p:cNvSpPr/>
          <p:nvPr/>
        </p:nvSpPr>
        <p:spPr>
          <a:xfrm>
            <a:off x="6126480" y="3520440"/>
            <a:ext cx="5577840" cy="2286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611880"/>
            <a:ext cx="5212080" cy="320040"/>
          </a:xfrm>
          <a:prstGeom prst="rect">
            <a:avLst/>
          </a:prstGeom>
          <a:noFill/>
        </p:spPr>
        <p:txBody>
          <a:bodyPr wrap="square">
            <a:spAutoFit/>
          </a:bodyPr>
          <a:lstStyle/>
          <a:p>
            <a:pPr algn="l"/>
            <a:r>
              <a:rPr sz="1300" b="1" i="0">
                <a:solidFill>
                  <a:srgbClr val="FFD714"/>
                </a:solidFill>
                <a:latin typeface="Calibri"/>
              </a:rPr>
              <a:t>Vault Configuration (via Terraform)</a:t>
            </a:r>
          </a:p>
        </p:txBody>
      </p:sp>
      <p:sp>
        <p:nvSpPr>
          <p:cNvPr id="27" name="TextBox 26"/>
          <p:cNvSpPr txBox="1"/>
          <p:nvPr/>
        </p:nvSpPr>
        <p:spPr>
          <a:xfrm>
            <a:off x="6446520" y="4114800"/>
            <a:ext cx="4937760" cy="1463039"/>
          </a:xfrm>
          <a:prstGeom prst="rect">
            <a:avLst/>
          </a:prstGeom>
          <a:noFill/>
        </p:spPr>
        <p:txBody>
          <a:bodyPr wrap="square">
            <a:spAutoFit/>
          </a:bodyPr>
          <a:lstStyle/>
          <a:p>
            <a:pPr>
              <a:spcBef>
                <a:spcPts val="400"/>
              </a:spcBef>
            </a:pPr>
            <a:r>
              <a:rPr sz="1100">
                <a:solidFill>
                  <a:srgbClr val="FFFFFF"/>
                </a:solidFill>
              </a:rPr>
              <a:t>▸  Namespace: admin/agentic-iam-&lt;suffix&gt;</a:t>
            </a:r>
          </a:p>
          <a:p>
            <a:pPr>
              <a:spcBef>
                <a:spcPts val="400"/>
              </a:spcBef>
            </a:pPr>
            <a:r>
              <a:rPr sz="1100">
                <a:solidFill>
                  <a:srgbClr val="FFFFFF"/>
                </a:solidFill>
              </a:rPr>
              <a:t>▸  Auth: JWT (Entra ID JWKS validated)</a:t>
            </a:r>
          </a:p>
          <a:p>
            <a:pPr>
              <a:spcBef>
                <a:spcPts val="400"/>
              </a:spcBef>
            </a:pPr>
            <a:r>
              <a:rPr sz="1100">
                <a:solidFill>
                  <a:srgbClr val="FFFFFF"/>
                </a:solidFill>
              </a:rPr>
              <a:t>▸  DB Engine: dynamic MongoDB credentials</a:t>
            </a:r>
          </a:p>
          <a:p>
            <a:pPr>
              <a:spcBef>
                <a:spcPts val="400"/>
              </a:spcBef>
            </a:pPr>
            <a:r>
              <a:rPr sz="1100">
                <a:solidFill>
                  <a:srgbClr val="FFFFFF"/>
                </a:solidFill>
              </a:rPr>
              <a:t>▸  TTL: 5 min default · 10 min max</a:t>
            </a:r>
          </a:p>
          <a:p>
            <a:pPr>
              <a:spcBef>
                <a:spcPts val="400"/>
              </a:spcBef>
            </a:pPr>
            <a:r>
              <a:rPr sz="1100">
                <a:solidFill>
                  <a:srgbClr val="FFFFFF"/>
                </a:solidFill>
              </a:rPr>
              <a:t>▸  Policies: readonly · readwrite</a:t>
            </a:r>
          </a:p>
        </p:txBody>
      </p:sp>
      <p:sp>
        <p:nvSpPr>
          <p:cNvPr id="28" name="TextBox 27"/>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29" name="TextBox 28"/>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Demo Part 1: Alice — Read-Only User</a:t>
            </a:r>
          </a:p>
        </p:txBody>
      </p:sp>
      <p:sp>
        <p:nvSpPr>
          <p:cNvPr id="4" name="Rectangle 3"/>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db-readonly group → readonly Vault policy → read MongoDB credentials</a:t>
            </a:r>
          </a:p>
        </p:txBody>
      </p:sp>
      <p:sp>
        <p:nvSpPr>
          <p:cNvPr id="6" name="Rectangle 5"/>
          <p:cNvSpPr/>
          <p:nvPr/>
        </p:nvSpPr>
        <p:spPr>
          <a:xfrm>
            <a:off x="457200" y="1234440"/>
            <a:ext cx="7132320"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6766560" cy="365760"/>
          </a:xfrm>
          <a:prstGeom prst="rect">
            <a:avLst/>
          </a:prstGeom>
          <a:noFill/>
        </p:spPr>
        <p:txBody>
          <a:bodyPr wrap="square">
            <a:spAutoFit/>
          </a:bodyPr>
          <a:lstStyle/>
          <a:p>
            <a:pPr algn="l"/>
            <a:r>
              <a:rPr sz="1400" b="1" i="0">
                <a:solidFill>
                  <a:srgbClr val="0F62FE"/>
                </a:solidFill>
                <a:latin typeface="Calibri"/>
              </a:rPr>
              <a:t>Live Demo Steps</a:t>
            </a:r>
          </a:p>
        </p:txBody>
      </p:sp>
      <p:sp>
        <p:nvSpPr>
          <p:cNvPr id="8" name="TextBox 7"/>
          <p:cNvSpPr txBox="1"/>
          <p:nvPr/>
        </p:nvSpPr>
        <p:spPr>
          <a:xfrm>
            <a:off x="640080" y="1783080"/>
            <a:ext cx="2011680" cy="228600"/>
          </a:xfrm>
          <a:prstGeom prst="rect">
            <a:avLst/>
          </a:prstGeom>
          <a:noFill/>
        </p:spPr>
        <p:txBody>
          <a:bodyPr wrap="square">
            <a:spAutoFit/>
          </a:bodyPr>
          <a:lstStyle/>
          <a:p>
            <a:pPr algn="l"/>
            <a:r>
              <a:rPr sz="1100" b="1" i="0">
                <a:solidFill>
                  <a:srgbClr val="0F62FE"/>
                </a:solidFill>
                <a:latin typeface="Calibri"/>
              </a:rPr>
              <a:t>1. Open App</a:t>
            </a:r>
          </a:p>
        </p:txBody>
      </p:sp>
      <p:sp>
        <p:nvSpPr>
          <p:cNvPr id="9" name="TextBox 8"/>
          <p:cNvSpPr txBox="1"/>
          <p:nvPr/>
        </p:nvSpPr>
        <p:spPr>
          <a:xfrm>
            <a:off x="2651760" y="1783080"/>
            <a:ext cx="4754880" cy="457200"/>
          </a:xfrm>
          <a:prstGeom prst="rect">
            <a:avLst/>
          </a:prstGeom>
          <a:noFill/>
        </p:spPr>
        <p:txBody>
          <a:bodyPr wrap="square">
            <a:spAutoFit/>
          </a:bodyPr>
          <a:lstStyle/>
          <a:p>
            <a:pPr algn="l"/>
            <a:r>
              <a:rPr sz="1100" b="0" i="0">
                <a:solidFill>
                  <a:srgbClr val="FFFFFF"/>
                </a:solidFill>
                <a:latin typeface="Calibri"/>
              </a:rPr>
              <a:t>Navigate to http://localhost:8501 in browser</a:t>
            </a:r>
          </a:p>
        </p:txBody>
      </p:sp>
      <p:sp>
        <p:nvSpPr>
          <p:cNvPr id="10" name="TextBox 9"/>
          <p:cNvSpPr txBox="1"/>
          <p:nvPr/>
        </p:nvSpPr>
        <p:spPr>
          <a:xfrm>
            <a:off x="640080" y="2377440"/>
            <a:ext cx="2011680" cy="228600"/>
          </a:xfrm>
          <a:prstGeom prst="rect">
            <a:avLst/>
          </a:prstGeom>
          <a:noFill/>
        </p:spPr>
        <p:txBody>
          <a:bodyPr wrap="square">
            <a:spAutoFit/>
          </a:bodyPr>
          <a:lstStyle/>
          <a:p>
            <a:pPr algn="l"/>
            <a:r>
              <a:rPr sz="1100" b="1" i="0">
                <a:solidFill>
                  <a:srgbClr val="0F62FE"/>
                </a:solidFill>
                <a:latin typeface="Calibri"/>
              </a:rPr>
              <a:t>2. Sign In</a:t>
            </a:r>
          </a:p>
        </p:txBody>
      </p:sp>
      <p:sp>
        <p:nvSpPr>
          <p:cNvPr id="11" name="TextBox 10"/>
          <p:cNvSpPr txBox="1"/>
          <p:nvPr/>
        </p:nvSpPr>
        <p:spPr>
          <a:xfrm>
            <a:off x="2651760" y="2377440"/>
            <a:ext cx="4754880" cy="457200"/>
          </a:xfrm>
          <a:prstGeom prst="rect">
            <a:avLst/>
          </a:prstGeom>
          <a:noFill/>
        </p:spPr>
        <p:txBody>
          <a:bodyPr wrap="square">
            <a:spAutoFit/>
          </a:bodyPr>
          <a:lstStyle/>
          <a:p>
            <a:pPr algn="l"/>
            <a:r>
              <a:rPr sz="1100" b="0" i="0">
                <a:solidFill>
                  <a:srgbClr val="FFFFFF"/>
                </a:solidFill>
                <a:latin typeface="Calibri"/>
              </a:rPr>
              <a:t>Click Login → Entra ID login page
Enter: alice@jlevings13gmail699.onmicrosoft.com</a:t>
            </a:r>
          </a:p>
        </p:txBody>
      </p:sp>
      <p:sp>
        <p:nvSpPr>
          <p:cNvPr id="12" name="TextBox 11"/>
          <p:cNvSpPr txBox="1"/>
          <p:nvPr/>
        </p:nvSpPr>
        <p:spPr>
          <a:xfrm>
            <a:off x="640080" y="2971800"/>
            <a:ext cx="2011680" cy="228600"/>
          </a:xfrm>
          <a:prstGeom prst="rect">
            <a:avLst/>
          </a:prstGeom>
          <a:noFill/>
        </p:spPr>
        <p:txBody>
          <a:bodyPr wrap="square">
            <a:spAutoFit/>
          </a:bodyPr>
          <a:lstStyle/>
          <a:p>
            <a:pPr algn="l"/>
            <a:r>
              <a:rPr sz="1100" b="1" i="0">
                <a:solidFill>
                  <a:srgbClr val="0F62FE"/>
                </a:solidFill>
                <a:latin typeface="Calibri"/>
              </a:rPr>
              <a:t>3. Authenticate</a:t>
            </a:r>
          </a:p>
        </p:txBody>
      </p:sp>
      <p:sp>
        <p:nvSpPr>
          <p:cNvPr id="13" name="TextBox 12"/>
          <p:cNvSpPr txBox="1"/>
          <p:nvPr/>
        </p:nvSpPr>
        <p:spPr>
          <a:xfrm>
            <a:off x="2651760" y="2971800"/>
            <a:ext cx="4754880" cy="457200"/>
          </a:xfrm>
          <a:prstGeom prst="rect">
            <a:avLst/>
          </a:prstGeom>
          <a:noFill/>
        </p:spPr>
        <p:txBody>
          <a:bodyPr wrap="square">
            <a:spAutoFit/>
          </a:bodyPr>
          <a:lstStyle/>
          <a:p>
            <a:pPr algn="l"/>
            <a:r>
              <a:rPr sz="1100" b="0" i="0">
                <a:solidFill>
                  <a:srgbClr val="FFFFFF"/>
                </a:solidFill>
                <a:latin typeface="Calibri"/>
              </a:rPr>
              <a:t>Enter Alice's password → complete MFA if prompted</a:t>
            </a:r>
          </a:p>
        </p:txBody>
      </p:sp>
      <p:sp>
        <p:nvSpPr>
          <p:cNvPr id="14" name="TextBox 13"/>
          <p:cNvSpPr txBox="1"/>
          <p:nvPr/>
        </p:nvSpPr>
        <p:spPr>
          <a:xfrm>
            <a:off x="640080" y="3566160"/>
            <a:ext cx="2011680" cy="228600"/>
          </a:xfrm>
          <a:prstGeom prst="rect">
            <a:avLst/>
          </a:prstGeom>
          <a:noFill/>
        </p:spPr>
        <p:txBody>
          <a:bodyPr wrap="square">
            <a:spAutoFit/>
          </a:bodyPr>
          <a:lstStyle/>
          <a:p>
            <a:pPr algn="l"/>
            <a:r>
              <a:rPr sz="1100" b="1" i="0">
                <a:solidFill>
                  <a:srgbClr val="0F62FE"/>
                </a:solidFill>
                <a:latin typeface="Calibri"/>
              </a:rPr>
              <a:t>4. List Products</a:t>
            </a:r>
          </a:p>
        </p:txBody>
      </p:sp>
      <p:sp>
        <p:nvSpPr>
          <p:cNvPr id="15" name="TextBox 14"/>
          <p:cNvSpPr txBox="1"/>
          <p:nvPr/>
        </p:nvSpPr>
        <p:spPr>
          <a:xfrm>
            <a:off x="2651760" y="3566160"/>
            <a:ext cx="4754880" cy="457200"/>
          </a:xfrm>
          <a:prstGeom prst="rect">
            <a:avLst/>
          </a:prstGeom>
          <a:noFill/>
        </p:spPr>
        <p:txBody>
          <a:bodyPr wrap="square">
            <a:spAutoFit/>
          </a:bodyPr>
          <a:lstStyle/>
          <a:p>
            <a:pPr algn="l"/>
            <a:r>
              <a:rPr sz="1100" b="0" i="0">
                <a:solidFill>
                  <a:srgbClr val="FFFFFF"/>
                </a:solidFill>
                <a:latin typeface="Calibri"/>
              </a:rPr>
              <a:t>Type in chat: List all products
→ Products appear (read access confirmed)</a:t>
            </a:r>
          </a:p>
        </p:txBody>
      </p:sp>
      <p:sp>
        <p:nvSpPr>
          <p:cNvPr id="16" name="TextBox 15"/>
          <p:cNvSpPr txBox="1"/>
          <p:nvPr/>
        </p:nvSpPr>
        <p:spPr>
          <a:xfrm>
            <a:off x="640080" y="4160520"/>
            <a:ext cx="2011680" cy="228600"/>
          </a:xfrm>
          <a:prstGeom prst="rect">
            <a:avLst/>
          </a:prstGeom>
          <a:noFill/>
        </p:spPr>
        <p:txBody>
          <a:bodyPr wrap="square">
            <a:spAutoFit/>
          </a:bodyPr>
          <a:lstStyle/>
          <a:p>
            <a:pPr algn="l"/>
            <a:r>
              <a:rPr sz="1100" b="1" i="0">
                <a:solidFill>
                  <a:srgbClr val="0F62FE"/>
                </a:solidFill>
                <a:latin typeface="Calibri"/>
              </a:rPr>
              <a:t>5. Attempt Write</a:t>
            </a:r>
          </a:p>
        </p:txBody>
      </p:sp>
      <p:sp>
        <p:nvSpPr>
          <p:cNvPr id="17" name="TextBox 16"/>
          <p:cNvSpPr txBox="1"/>
          <p:nvPr/>
        </p:nvSpPr>
        <p:spPr>
          <a:xfrm>
            <a:off x="2651760" y="4160520"/>
            <a:ext cx="4754880" cy="457200"/>
          </a:xfrm>
          <a:prstGeom prst="rect">
            <a:avLst/>
          </a:prstGeom>
          <a:noFill/>
        </p:spPr>
        <p:txBody>
          <a:bodyPr wrap="square">
            <a:spAutoFit/>
          </a:bodyPr>
          <a:lstStyle/>
          <a:p>
            <a:pPr algn="l"/>
            <a:r>
              <a:rPr sz="1100" b="0" i="0">
                <a:solidFill>
                  <a:srgbClr val="FFFFFF"/>
                </a:solidFill>
                <a:latin typeface="Calibri"/>
              </a:rPr>
              <a:t>Type: Add a new product named 'Chair Model X' with price $49.99
→ Request FAILS — Vault enforced read-only policy</a:t>
            </a:r>
          </a:p>
        </p:txBody>
      </p:sp>
      <p:sp>
        <p:nvSpPr>
          <p:cNvPr id="18" name="TextBox 17"/>
          <p:cNvSpPr txBox="1"/>
          <p:nvPr/>
        </p:nvSpPr>
        <p:spPr>
          <a:xfrm>
            <a:off x="640080" y="4754880"/>
            <a:ext cx="2011680" cy="228600"/>
          </a:xfrm>
          <a:prstGeom prst="rect">
            <a:avLst/>
          </a:prstGeom>
          <a:noFill/>
        </p:spPr>
        <p:txBody>
          <a:bodyPr wrap="square">
            <a:spAutoFit/>
          </a:bodyPr>
          <a:lstStyle/>
          <a:p>
            <a:pPr algn="l"/>
            <a:r>
              <a:rPr sz="1100" b="1" i="0">
                <a:solidFill>
                  <a:srgbClr val="0F62FE"/>
                </a:solidFill>
                <a:latin typeface="Calibri"/>
              </a:rPr>
              <a:t>6. Observe</a:t>
            </a:r>
          </a:p>
        </p:txBody>
      </p:sp>
      <p:sp>
        <p:nvSpPr>
          <p:cNvPr id="19" name="TextBox 18"/>
          <p:cNvSpPr txBox="1"/>
          <p:nvPr/>
        </p:nvSpPr>
        <p:spPr>
          <a:xfrm>
            <a:off x="2651760" y="4754880"/>
            <a:ext cx="4754880" cy="457200"/>
          </a:xfrm>
          <a:prstGeom prst="rect">
            <a:avLst/>
          </a:prstGeom>
          <a:noFill/>
        </p:spPr>
        <p:txBody>
          <a:bodyPr wrap="square">
            <a:spAutoFit/>
          </a:bodyPr>
          <a:lstStyle/>
          <a:p>
            <a:pPr algn="l"/>
            <a:r>
              <a:rPr sz="1100" b="0" i="0">
                <a:solidFill>
                  <a:srgbClr val="FFFFFF"/>
                </a:solidFill>
                <a:latin typeface="Calibri"/>
              </a:rPr>
              <a:t>Show the error message: Vault denied write credentials
This is the system working correctly</a:t>
            </a:r>
          </a:p>
        </p:txBody>
      </p:sp>
      <p:sp>
        <p:nvSpPr>
          <p:cNvPr id="20" name="Rectangle 19"/>
          <p:cNvSpPr/>
          <p:nvPr/>
        </p:nvSpPr>
        <p:spPr>
          <a:xfrm>
            <a:off x="7955279" y="1234440"/>
            <a:ext cx="3749039"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325880"/>
            <a:ext cx="3383280" cy="365760"/>
          </a:xfrm>
          <a:prstGeom prst="rect">
            <a:avLst/>
          </a:prstGeom>
          <a:noFill/>
        </p:spPr>
        <p:txBody>
          <a:bodyPr wrap="square">
            <a:spAutoFit/>
          </a:bodyPr>
          <a:lstStyle/>
          <a:p>
            <a:pPr algn="l"/>
            <a:r>
              <a:rPr sz="1400" b="1" i="0">
                <a:solidFill>
                  <a:srgbClr val="FFD714"/>
                </a:solidFill>
                <a:latin typeface="Calibri"/>
              </a:rPr>
              <a:t>Expected Outcome</a:t>
            </a:r>
          </a:p>
        </p:txBody>
      </p:sp>
      <p:sp>
        <p:nvSpPr>
          <p:cNvPr id="22" name="Rectangle 21"/>
          <p:cNvSpPr/>
          <p:nvPr/>
        </p:nvSpPr>
        <p:spPr>
          <a:xfrm>
            <a:off x="8138160" y="1783080"/>
            <a:ext cx="33832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1828800"/>
            <a:ext cx="3108960" cy="274320"/>
          </a:xfrm>
          <a:prstGeom prst="rect">
            <a:avLst/>
          </a:prstGeom>
          <a:noFill/>
        </p:spPr>
        <p:txBody>
          <a:bodyPr wrap="square">
            <a:spAutoFit/>
          </a:bodyPr>
          <a:lstStyle/>
          <a:p>
            <a:pPr algn="l"/>
            <a:r>
              <a:rPr sz="1200" b="1" i="0">
                <a:solidFill>
                  <a:srgbClr val="42BE65"/>
                </a:solidFill>
                <a:latin typeface="Calibri"/>
              </a:rPr>
              <a:t>✅  Can Do</a:t>
            </a:r>
          </a:p>
        </p:txBody>
      </p:sp>
      <p:sp>
        <p:nvSpPr>
          <p:cNvPr id="24" name="TextBox 23"/>
          <p:cNvSpPr txBox="1"/>
          <p:nvPr/>
        </p:nvSpPr>
        <p:spPr>
          <a:xfrm>
            <a:off x="8275320" y="2103120"/>
            <a:ext cx="3108960" cy="411480"/>
          </a:xfrm>
          <a:prstGeom prst="rect">
            <a:avLst/>
          </a:prstGeom>
          <a:noFill/>
        </p:spPr>
        <p:txBody>
          <a:bodyPr wrap="square">
            <a:spAutoFit/>
          </a:bodyPr>
          <a:lstStyle/>
          <a:p>
            <a:pPr algn="l"/>
            <a:r>
              <a:rPr sz="1100" b="0" i="0">
                <a:solidFill>
                  <a:srgbClr val="FFFFFF"/>
                </a:solidFill>
                <a:latin typeface="Calibri"/>
              </a:rPr>
              <a:t>Read products (List all products)</a:t>
            </a:r>
          </a:p>
        </p:txBody>
      </p:sp>
      <p:sp>
        <p:nvSpPr>
          <p:cNvPr id="25" name="Rectangle 24"/>
          <p:cNvSpPr/>
          <p:nvPr/>
        </p:nvSpPr>
        <p:spPr>
          <a:xfrm>
            <a:off x="8138160" y="2697480"/>
            <a:ext cx="33832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743200"/>
            <a:ext cx="3108960" cy="274320"/>
          </a:xfrm>
          <a:prstGeom prst="rect">
            <a:avLst/>
          </a:prstGeom>
          <a:noFill/>
        </p:spPr>
        <p:txBody>
          <a:bodyPr wrap="square">
            <a:spAutoFit/>
          </a:bodyPr>
          <a:lstStyle/>
          <a:p>
            <a:pPr algn="l"/>
            <a:r>
              <a:rPr sz="1200" b="1" i="0">
                <a:solidFill>
                  <a:srgbClr val="FA4D56"/>
                </a:solidFill>
                <a:latin typeface="Calibri"/>
              </a:rPr>
              <a:t>❌  Cannot Do</a:t>
            </a:r>
          </a:p>
        </p:txBody>
      </p:sp>
      <p:sp>
        <p:nvSpPr>
          <p:cNvPr id="27" name="TextBox 26"/>
          <p:cNvSpPr txBox="1"/>
          <p:nvPr/>
        </p:nvSpPr>
        <p:spPr>
          <a:xfrm>
            <a:off x="8275320" y="3017520"/>
            <a:ext cx="3108960" cy="411480"/>
          </a:xfrm>
          <a:prstGeom prst="rect">
            <a:avLst/>
          </a:prstGeom>
          <a:noFill/>
        </p:spPr>
        <p:txBody>
          <a:bodyPr wrap="square">
            <a:spAutoFit/>
          </a:bodyPr>
          <a:lstStyle/>
          <a:p>
            <a:pPr algn="l"/>
            <a:r>
              <a:rPr sz="1100" b="0" i="0">
                <a:solidFill>
                  <a:srgbClr val="FFFFFF"/>
                </a:solidFill>
                <a:latin typeface="Calibri"/>
              </a:rPr>
              <a:t>Write / create / delete products</a:t>
            </a:r>
          </a:p>
        </p:txBody>
      </p:sp>
      <p:sp>
        <p:nvSpPr>
          <p:cNvPr id="28" name="Rectangle 27"/>
          <p:cNvSpPr/>
          <p:nvPr/>
        </p:nvSpPr>
        <p:spPr>
          <a:xfrm>
            <a:off x="8138160" y="3611880"/>
            <a:ext cx="3383280" cy="18288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3657600"/>
            <a:ext cx="3108960" cy="320040"/>
          </a:xfrm>
          <a:prstGeom prst="rect">
            <a:avLst/>
          </a:prstGeom>
          <a:noFill/>
        </p:spPr>
        <p:txBody>
          <a:bodyPr wrap="square">
            <a:spAutoFit/>
          </a:bodyPr>
          <a:lstStyle/>
          <a:p>
            <a:pPr algn="l"/>
            <a:r>
              <a:rPr sz="1100" b="1" i="0">
                <a:solidFill>
                  <a:srgbClr val="FFD714"/>
                </a:solidFill>
                <a:latin typeface="Calibri"/>
              </a:rPr>
              <a:t>Vault Policy: readonly</a:t>
            </a:r>
          </a:p>
        </p:txBody>
      </p:sp>
      <p:sp>
        <p:nvSpPr>
          <p:cNvPr id="30" name="TextBox 29"/>
          <p:cNvSpPr txBox="1"/>
          <p:nvPr/>
        </p:nvSpPr>
        <p:spPr>
          <a:xfrm>
            <a:off x="8275320" y="4023360"/>
            <a:ext cx="3108960" cy="1325880"/>
          </a:xfrm>
          <a:prstGeom prst="rect">
            <a:avLst/>
          </a:prstGeom>
          <a:noFill/>
        </p:spPr>
        <p:txBody>
          <a:bodyPr wrap="square">
            <a:spAutoFit/>
          </a:bodyPr>
          <a:lstStyle/>
          <a:p>
            <a:pPr algn="l"/>
            <a:r>
              <a:rPr sz="900" b="0" i="0">
                <a:solidFill>
                  <a:srgbClr val="42BE65"/>
                </a:solidFill>
                <a:latin typeface="Calibri"/>
              </a:rPr>
              <a:t>path "database/creds/readonly" {
  capabilities = ["read"]
}</a:t>
            </a:r>
          </a:p>
        </p:txBody>
      </p:sp>
      <p:sp>
        <p:nvSpPr>
          <p:cNvPr id="31" name="TextBox 30"/>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32" name="TextBox 31"/>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Demo Part 2: Bob — Read-Write User</a:t>
            </a:r>
          </a:p>
        </p:txBody>
      </p:sp>
      <p:sp>
        <p:nvSpPr>
          <p:cNvPr id="4" name="Rectangle 3"/>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db-readwrite group → readwrite Vault policy → read-write MongoDB credentials</a:t>
            </a:r>
          </a:p>
        </p:txBody>
      </p:sp>
      <p:sp>
        <p:nvSpPr>
          <p:cNvPr id="6" name="Rectangle 5"/>
          <p:cNvSpPr/>
          <p:nvPr/>
        </p:nvSpPr>
        <p:spPr>
          <a:xfrm>
            <a:off x="457200" y="1234440"/>
            <a:ext cx="7132320"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6766560" cy="365760"/>
          </a:xfrm>
          <a:prstGeom prst="rect">
            <a:avLst/>
          </a:prstGeom>
          <a:noFill/>
        </p:spPr>
        <p:txBody>
          <a:bodyPr wrap="square">
            <a:spAutoFit/>
          </a:bodyPr>
          <a:lstStyle/>
          <a:p>
            <a:pPr algn="l"/>
            <a:r>
              <a:rPr sz="1400" b="1" i="0">
                <a:solidFill>
                  <a:srgbClr val="42BE65"/>
                </a:solidFill>
                <a:latin typeface="Calibri"/>
              </a:rPr>
              <a:t>Live Demo Steps</a:t>
            </a:r>
          </a:p>
        </p:txBody>
      </p:sp>
      <p:sp>
        <p:nvSpPr>
          <p:cNvPr id="8" name="TextBox 7"/>
          <p:cNvSpPr txBox="1"/>
          <p:nvPr/>
        </p:nvSpPr>
        <p:spPr>
          <a:xfrm>
            <a:off x="640080" y="1783080"/>
            <a:ext cx="2468880" cy="228600"/>
          </a:xfrm>
          <a:prstGeom prst="rect">
            <a:avLst/>
          </a:prstGeom>
          <a:noFill/>
        </p:spPr>
        <p:txBody>
          <a:bodyPr wrap="square">
            <a:spAutoFit/>
          </a:bodyPr>
          <a:lstStyle/>
          <a:p>
            <a:pPr algn="l"/>
            <a:r>
              <a:rPr sz="1100" b="1" i="0">
                <a:solidFill>
                  <a:srgbClr val="42BE65"/>
                </a:solidFill>
                <a:latin typeface="Calibri"/>
              </a:rPr>
              <a:t>1. New Incognito Window</a:t>
            </a:r>
          </a:p>
        </p:txBody>
      </p:sp>
      <p:sp>
        <p:nvSpPr>
          <p:cNvPr id="9" name="TextBox 8"/>
          <p:cNvSpPr txBox="1"/>
          <p:nvPr/>
        </p:nvSpPr>
        <p:spPr>
          <a:xfrm>
            <a:off x="3108960" y="1783080"/>
            <a:ext cx="4297680" cy="457200"/>
          </a:xfrm>
          <a:prstGeom prst="rect">
            <a:avLst/>
          </a:prstGeom>
          <a:noFill/>
        </p:spPr>
        <p:txBody>
          <a:bodyPr wrap="square">
            <a:spAutoFit/>
          </a:bodyPr>
          <a:lstStyle/>
          <a:p>
            <a:pPr algn="l"/>
            <a:r>
              <a:rPr sz="1100" b="0" i="0">
                <a:solidFill>
                  <a:srgbClr val="FFFFFF"/>
                </a:solidFill>
                <a:latin typeface="Calibri"/>
              </a:rPr>
              <a:t>Open NEW incognito/private browser window
Navigate to http://localhost:8501</a:t>
            </a:r>
          </a:p>
        </p:txBody>
      </p:sp>
      <p:sp>
        <p:nvSpPr>
          <p:cNvPr id="10" name="TextBox 9"/>
          <p:cNvSpPr txBox="1"/>
          <p:nvPr/>
        </p:nvSpPr>
        <p:spPr>
          <a:xfrm>
            <a:off x="640080" y="2377440"/>
            <a:ext cx="2468880" cy="228600"/>
          </a:xfrm>
          <a:prstGeom prst="rect">
            <a:avLst/>
          </a:prstGeom>
          <a:noFill/>
        </p:spPr>
        <p:txBody>
          <a:bodyPr wrap="square">
            <a:spAutoFit/>
          </a:bodyPr>
          <a:lstStyle/>
          <a:p>
            <a:pPr algn="l"/>
            <a:r>
              <a:rPr sz="1100" b="1" i="0">
                <a:solidFill>
                  <a:srgbClr val="42BE65"/>
                </a:solidFill>
                <a:latin typeface="Calibri"/>
              </a:rPr>
              <a:t>2. Sign In as Bob</a:t>
            </a:r>
          </a:p>
        </p:txBody>
      </p:sp>
      <p:sp>
        <p:nvSpPr>
          <p:cNvPr id="11" name="TextBox 10"/>
          <p:cNvSpPr txBox="1"/>
          <p:nvPr/>
        </p:nvSpPr>
        <p:spPr>
          <a:xfrm>
            <a:off x="3108960" y="2377440"/>
            <a:ext cx="4297680" cy="457200"/>
          </a:xfrm>
          <a:prstGeom prst="rect">
            <a:avLst/>
          </a:prstGeom>
          <a:noFill/>
        </p:spPr>
        <p:txBody>
          <a:bodyPr wrap="square">
            <a:spAutoFit/>
          </a:bodyPr>
          <a:lstStyle/>
          <a:p>
            <a:pPr algn="l"/>
            <a:r>
              <a:rPr sz="1100" b="0" i="0">
                <a:solidFill>
                  <a:srgbClr val="FFFFFF"/>
                </a:solidFill>
                <a:latin typeface="Calibri"/>
              </a:rPr>
              <a:t>Click Login → enter: bob@jlevings13gmail699.onmicrosoft.com
Enter Bob's password → complete MFA if prompted</a:t>
            </a:r>
          </a:p>
        </p:txBody>
      </p:sp>
      <p:sp>
        <p:nvSpPr>
          <p:cNvPr id="12" name="TextBox 11"/>
          <p:cNvSpPr txBox="1"/>
          <p:nvPr/>
        </p:nvSpPr>
        <p:spPr>
          <a:xfrm>
            <a:off x="640080" y="2971800"/>
            <a:ext cx="2468880" cy="228600"/>
          </a:xfrm>
          <a:prstGeom prst="rect">
            <a:avLst/>
          </a:prstGeom>
          <a:noFill/>
        </p:spPr>
        <p:txBody>
          <a:bodyPr wrap="square">
            <a:spAutoFit/>
          </a:bodyPr>
          <a:lstStyle/>
          <a:p>
            <a:pPr algn="l"/>
            <a:r>
              <a:rPr sz="1100" b="1" i="0">
                <a:solidFill>
                  <a:srgbClr val="42BE65"/>
                </a:solidFill>
                <a:latin typeface="Calibri"/>
              </a:rPr>
              <a:t>3. List Products</a:t>
            </a:r>
          </a:p>
        </p:txBody>
      </p:sp>
      <p:sp>
        <p:nvSpPr>
          <p:cNvPr id="13" name="TextBox 12"/>
          <p:cNvSpPr txBox="1"/>
          <p:nvPr/>
        </p:nvSpPr>
        <p:spPr>
          <a:xfrm>
            <a:off x="3108960" y="2971800"/>
            <a:ext cx="4297680" cy="457200"/>
          </a:xfrm>
          <a:prstGeom prst="rect">
            <a:avLst/>
          </a:prstGeom>
          <a:noFill/>
        </p:spPr>
        <p:txBody>
          <a:bodyPr wrap="square">
            <a:spAutoFit/>
          </a:bodyPr>
          <a:lstStyle/>
          <a:p>
            <a:pPr algn="l"/>
            <a:r>
              <a:rPr sz="1100" b="0" i="0">
                <a:solidFill>
                  <a:srgbClr val="FFFFFF"/>
                </a:solidFill>
                <a:latin typeface="Calibri"/>
              </a:rPr>
              <a:t>Type: List all products
→ Products appear (same as Alice saw)</a:t>
            </a:r>
          </a:p>
        </p:txBody>
      </p:sp>
      <p:sp>
        <p:nvSpPr>
          <p:cNvPr id="14" name="TextBox 13"/>
          <p:cNvSpPr txBox="1"/>
          <p:nvPr/>
        </p:nvSpPr>
        <p:spPr>
          <a:xfrm>
            <a:off x="640080" y="3566160"/>
            <a:ext cx="2468880" cy="228600"/>
          </a:xfrm>
          <a:prstGeom prst="rect">
            <a:avLst/>
          </a:prstGeom>
          <a:noFill/>
        </p:spPr>
        <p:txBody>
          <a:bodyPr wrap="square">
            <a:spAutoFit/>
          </a:bodyPr>
          <a:lstStyle/>
          <a:p>
            <a:pPr algn="l"/>
            <a:r>
              <a:rPr sz="1100" b="1" i="0">
                <a:solidFill>
                  <a:srgbClr val="42BE65"/>
                </a:solidFill>
                <a:latin typeface="Calibri"/>
              </a:rPr>
              <a:t>4. Add a Product</a:t>
            </a:r>
          </a:p>
        </p:txBody>
      </p:sp>
      <p:sp>
        <p:nvSpPr>
          <p:cNvPr id="15" name="TextBox 14"/>
          <p:cNvSpPr txBox="1"/>
          <p:nvPr/>
        </p:nvSpPr>
        <p:spPr>
          <a:xfrm>
            <a:off x="3108960" y="3566160"/>
            <a:ext cx="4297680" cy="457200"/>
          </a:xfrm>
          <a:prstGeom prst="rect">
            <a:avLst/>
          </a:prstGeom>
          <a:noFill/>
        </p:spPr>
        <p:txBody>
          <a:bodyPr wrap="square">
            <a:spAutoFit/>
          </a:bodyPr>
          <a:lstStyle/>
          <a:p>
            <a:pPr algn="l"/>
            <a:r>
              <a:rPr sz="1100" b="0" i="0">
                <a:solidFill>
                  <a:srgbClr val="FFFFFF"/>
                </a:solidFill>
                <a:latin typeface="Calibri"/>
              </a:rPr>
              <a:t>Type: Add a new product named 'Table Model Y' with price $89.99
→ Operation SUCCEEDS — Vault issued read-write credentials</a:t>
            </a:r>
          </a:p>
        </p:txBody>
      </p:sp>
      <p:sp>
        <p:nvSpPr>
          <p:cNvPr id="16" name="TextBox 15"/>
          <p:cNvSpPr txBox="1"/>
          <p:nvPr/>
        </p:nvSpPr>
        <p:spPr>
          <a:xfrm>
            <a:off x="640080" y="4160520"/>
            <a:ext cx="2468880" cy="228600"/>
          </a:xfrm>
          <a:prstGeom prst="rect">
            <a:avLst/>
          </a:prstGeom>
          <a:noFill/>
        </p:spPr>
        <p:txBody>
          <a:bodyPr wrap="square">
            <a:spAutoFit/>
          </a:bodyPr>
          <a:lstStyle/>
          <a:p>
            <a:pPr algn="l"/>
            <a:r>
              <a:rPr sz="1100" b="1" i="0">
                <a:solidFill>
                  <a:srgbClr val="42BE65"/>
                </a:solidFill>
                <a:latin typeface="Calibri"/>
              </a:rPr>
              <a:t>5. Verify Write</a:t>
            </a:r>
          </a:p>
        </p:txBody>
      </p:sp>
      <p:sp>
        <p:nvSpPr>
          <p:cNvPr id="17" name="TextBox 16"/>
          <p:cNvSpPr txBox="1"/>
          <p:nvPr/>
        </p:nvSpPr>
        <p:spPr>
          <a:xfrm>
            <a:off x="3108960" y="4160520"/>
            <a:ext cx="4297680" cy="457200"/>
          </a:xfrm>
          <a:prstGeom prst="rect">
            <a:avLst/>
          </a:prstGeom>
          <a:noFill/>
        </p:spPr>
        <p:txBody>
          <a:bodyPr wrap="square">
            <a:spAutoFit/>
          </a:bodyPr>
          <a:lstStyle/>
          <a:p>
            <a:pPr algn="l"/>
            <a:r>
              <a:rPr sz="1100" b="0" i="0">
                <a:solidFill>
                  <a:srgbClr val="FFFFFF"/>
                </a:solidFill>
                <a:latin typeface="Calibri"/>
              </a:rPr>
              <a:t>Type: List all products
→ 'Table Model Y' now appears in the list</a:t>
            </a:r>
          </a:p>
        </p:txBody>
      </p:sp>
      <p:sp>
        <p:nvSpPr>
          <p:cNvPr id="18" name="TextBox 17"/>
          <p:cNvSpPr txBox="1"/>
          <p:nvPr/>
        </p:nvSpPr>
        <p:spPr>
          <a:xfrm>
            <a:off x="640080" y="4754880"/>
            <a:ext cx="2468880" cy="228600"/>
          </a:xfrm>
          <a:prstGeom prst="rect">
            <a:avLst/>
          </a:prstGeom>
          <a:noFill/>
        </p:spPr>
        <p:txBody>
          <a:bodyPr wrap="square">
            <a:spAutoFit/>
          </a:bodyPr>
          <a:lstStyle/>
          <a:p>
            <a:pPr algn="l"/>
            <a:r>
              <a:rPr sz="1100" b="1" i="0">
                <a:solidFill>
                  <a:srgbClr val="42BE65"/>
                </a:solidFill>
                <a:latin typeface="Calibri"/>
              </a:rPr>
              <a:t>6. Contrast</a:t>
            </a:r>
          </a:p>
        </p:txBody>
      </p:sp>
      <p:sp>
        <p:nvSpPr>
          <p:cNvPr id="19" name="TextBox 18"/>
          <p:cNvSpPr txBox="1"/>
          <p:nvPr/>
        </p:nvSpPr>
        <p:spPr>
          <a:xfrm>
            <a:off x="3108960" y="4754880"/>
            <a:ext cx="4297680" cy="457200"/>
          </a:xfrm>
          <a:prstGeom prst="rect">
            <a:avLst/>
          </a:prstGeom>
          <a:noFill/>
        </p:spPr>
        <p:txBody>
          <a:bodyPr wrap="square">
            <a:spAutoFit/>
          </a:bodyPr>
          <a:lstStyle/>
          <a:p>
            <a:pPr algn="l"/>
            <a:r>
              <a:rPr sz="1100" b="0" i="0">
                <a:solidFill>
                  <a:srgbClr val="FFFFFF"/>
                </a:solidFill>
                <a:latin typeface="Calibri"/>
              </a:rPr>
              <a:t>Point out: same application, same agent, different user
= different Vault credentials = different database permissions</a:t>
            </a:r>
          </a:p>
        </p:txBody>
      </p:sp>
      <p:sp>
        <p:nvSpPr>
          <p:cNvPr id="20" name="Rectangle 19"/>
          <p:cNvSpPr/>
          <p:nvPr/>
        </p:nvSpPr>
        <p:spPr>
          <a:xfrm>
            <a:off x="7955279" y="1234440"/>
            <a:ext cx="3749039" cy="4572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325880"/>
            <a:ext cx="3383280" cy="365760"/>
          </a:xfrm>
          <a:prstGeom prst="rect">
            <a:avLst/>
          </a:prstGeom>
          <a:noFill/>
        </p:spPr>
        <p:txBody>
          <a:bodyPr wrap="square">
            <a:spAutoFit/>
          </a:bodyPr>
          <a:lstStyle/>
          <a:p>
            <a:pPr algn="l"/>
            <a:r>
              <a:rPr sz="1400" b="1" i="0">
                <a:solidFill>
                  <a:srgbClr val="FFD714"/>
                </a:solidFill>
                <a:latin typeface="Calibri"/>
              </a:rPr>
              <a:t>Expected Outcome</a:t>
            </a:r>
          </a:p>
        </p:txBody>
      </p:sp>
      <p:sp>
        <p:nvSpPr>
          <p:cNvPr id="22" name="Rectangle 21"/>
          <p:cNvSpPr/>
          <p:nvPr/>
        </p:nvSpPr>
        <p:spPr>
          <a:xfrm>
            <a:off x="8138160" y="1783080"/>
            <a:ext cx="33832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1828800"/>
            <a:ext cx="3108960" cy="274320"/>
          </a:xfrm>
          <a:prstGeom prst="rect">
            <a:avLst/>
          </a:prstGeom>
          <a:noFill/>
        </p:spPr>
        <p:txBody>
          <a:bodyPr wrap="square">
            <a:spAutoFit/>
          </a:bodyPr>
          <a:lstStyle/>
          <a:p>
            <a:pPr algn="l"/>
            <a:r>
              <a:rPr sz="1200" b="1" i="0">
                <a:solidFill>
                  <a:srgbClr val="42BE65"/>
                </a:solidFill>
                <a:latin typeface="Calibri"/>
              </a:rPr>
              <a:t>✅  Can Do</a:t>
            </a:r>
          </a:p>
        </p:txBody>
      </p:sp>
      <p:sp>
        <p:nvSpPr>
          <p:cNvPr id="24" name="TextBox 23"/>
          <p:cNvSpPr txBox="1"/>
          <p:nvPr/>
        </p:nvSpPr>
        <p:spPr>
          <a:xfrm>
            <a:off x="8275320" y="2103120"/>
            <a:ext cx="3108960" cy="411480"/>
          </a:xfrm>
          <a:prstGeom prst="rect">
            <a:avLst/>
          </a:prstGeom>
          <a:noFill/>
        </p:spPr>
        <p:txBody>
          <a:bodyPr wrap="square">
            <a:spAutoFit/>
          </a:bodyPr>
          <a:lstStyle/>
          <a:p>
            <a:pPr algn="l"/>
            <a:r>
              <a:rPr sz="1100" b="0" i="0">
                <a:solidFill>
                  <a:srgbClr val="FFFFFF"/>
                </a:solidFill>
                <a:latin typeface="Calibri"/>
              </a:rPr>
              <a:t>Read AND write products
Create, update, delete</a:t>
            </a:r>
          </a:p>
        </p:txBody>
      </p:sp>
      <p:sp>
        <p:nvSpPr>
          <p:cNvPr id="25" name="Rectangle 24"/>
          <p:cNvSpPr/>
          <p:nvPr/>
        </p:nvSpPr>
        <p:spPr>
          <a:xfrm>
            <a:off x="8138160" y="2697480"/>
            <a:ext cx="3383280" cy="77724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743200"/>
            <a:ext cx="3108960" cy="274320"/>
          </a:xfrm>
          <a:prstGeom prst="rect">
            <a:avLst/>
          </a:prstGeom>
          <a:noFill/>
        </p:spPr>
        <p:txBody>
          <a:bodyPr wrap="square">
            <a:spAutoFit/>
          </a:bodyPr>
          <a:lstStyle/>
          <a:p>
            <a:pPr algn="l"/>
            <a:r>
              <a:rPr sz="1200" b="1" i="0">
                <a:solidFill>
                  <a:srgbClr val="FFD714"/>
                </a:solidFill>
                <a:latin typeface="Calibri"/>
              </a:rPr>
              <a:t>Key Point</a:t>
            </a:r>
          </a:p>
        </p:txBody>
      </p:sp>
      <p:sp>
        <p:nvSpPr>
          <p:cNvPr id="27" name="TextBox 26"/>
          <p:cNvSpPr txBox="1"/>
          <p:nvPr/>
        </p:nvSpPr>
        <p:spPr>
          <a:xfrm>
            <a:off x="8275320" y="3017520"/>
            <a:ext cx="3108960" cy="411480"/>
          </a:xfrm>
          <a:prstGeom prst="rect">
            <a:avLst/>
          </a:prstGeom>
          <a:noFill/>
        </p:spPr>
        <p:txBody>
          <a:bodyPr wrap="square">
            <a:spAutoFit/>
          </a:bodyPr>
          <a:lstStyle/>
          <a:p>
            <a:pPr algn="l"/>
            <a:r>
              <a:rPr sz="1100" b="0" i="0">
                <a:solidFill>
                  <a:srgbClr val="FFFFFF"/>
                </a:solidFill>
                <a:latin typeface="Calibri"/>
              </a:rPr>
              <a:t>Same app. Same agent.
Different Vault credentials.</a:t>
            </a:r>
          </a:p>
        </p:txBody>
      </p:sp>
      <p:sp>
        <p:nvSpPr>
          <p:cNvPr id="28" name="Rectangle 27"/>
          <p:cNvSpPr/>
          <p:nvPr/>
        </p:nvSpPr>
        <p:spPr>
          <a:xfrm>
            <a:off x="8138160" y="3611880"/>
            <a:ext cx="3383280" cy="18288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3657600"/>
            <a:ext cx="3108960" cy="320040"/>
          </a:xfrm>
          <a:prstGeom prst="rect">
            <a:avLst/>
          </a:prstGeom>
          <a:noFill/>
        </p:spPr>
        <p:txBody>
          <a:bodyPr wrap="square">
            <a:spAutoFit/>
          </a:bodyPr>
          <a:lstStyle/>
          <a:p>
            <a:pPr algn="l"/>
            <a:r>
              <a:rPr sz="1100" b="1" i="0">
                <a:solidFill>
                  <a:srgbClr val="FFD714"/>
                </a:solidFill>
                <a:latin typeface="Calibri"/>
              </a:rPr>
              <a:t>Vault Policy: readwrite</a:t>
            </a:r>
          </a:p>
        </p:txBody>
      </p:sp>
      <p:sp>
        <p:nvSpPr>
          <p:cNvPr id="30" name="TextBox 29"/>
          <p:cNvSpPr txBox="1"/>
          <p:nvPr/>
        </p:nvSpPr>
        <p:spPr>
          <a:xfrm>
            <a:off x="8275320" y="4023360"/>
            <a:ext cx="3108960" cy="1325880"/>
          </a:xfrm>
          <a:prstGeom prst="rect">
            <a:avLst/>
          </a:prstGeom>
          <a:noFill/>
        </p:spPr>
        <p:txBody>
          <a:bodyPr wrap="square">
            <a:spAutoFit/>
          </a:bodyPr>
          <a:lstStyle/>
          <a:p>
            <a:pPr algn="l"/>
            <a:r>
              <a:rPr sz="900" b="0" i="0">
                <a:solidFill>
                  <a:srgbClr val="42BE65"/>
                </a:solidFill>
                <a:latin typeface="Calibri"/>
              </a:rPr>
              <a:t>path "database/creds/readwrite" {
  capabilities = ["read"]
}
path "database/creds/readonly" {
  capabilities = ["read"]
}</a:t>
            </a:r>
          </a:p>
        </p:txBody>
      </p:sp>
      <p:sp>
        <p:nvSpPr>
          <p:cNvPr id="31" name="TextBox 30"/>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32" name="TextBox 31"/>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Inside Vault: Policy Mapping</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How Entra ID group membership becomes MongoDB permissions</a:t>
            </a:r>
          </a:p>
        </p:txBody>
      </p:sp>
      <p:sp>
        <p:nvSpPr>
          <p:cNvPr id="5" name="Rectangle 4"/>
          <p:cNvSpPr/>
          <p:nvPr/>
        </p:nvSpPr>
        <p:spPr>
          <a:xfrm>
            <a:off x="457200" y="1280160"/>
            <a:ext cx="11247120" cy="448056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2011680" cy="365760"/>
          </a:xfrm>
          <a:prstGeom prst="rect">
            <a:avLst/>
          </a:prstGeom>
          <a:noFill/>
        </p:spPr>
        <p:txBody>
          <a:bodyPr wrap="square">
            <a:spAutoFit/>
          </a:bodyPr>
          <a:lstStyle/>
          <a:p>
            <a:pPr algn="ctr"/>
            <a:r>
              <a:rPr sz="1100" b="1" i="0">
                <a:solidFill>
                  <a:srgbClr val="999999"/>
                </a:solidFill>
                <a:latin typeface="Calibri"/>
              </a:rPr>
              <a:t>Entra ID</a:t>
            </a:r>
          </a:p>
        </p:txBody>
      </p:sp>
      <p:sp>
        <p:nvSpPr>
          <p:cNvPr id="7" name="TextBox 6"/>
          <p:cNvSpPr txBox="1"/>
          <p:nvPr/>
        </p:nvSpPr>
        <p:spPr>
          <a:xfrm>
            <a:off x="2834640" y="1371600"/>
            <a:ext cx="2011680" cy="365760"/>
          </a:xfrm>
          <a:prstGeom prst="rect">
            <a:avLst/>
          </a:prstGeom>
          <a:noFill/>
        </p:spPr>
        <p:txBody>
          <a:bodyPr wrap="square">
            <a:spAutoFit/>
          </a:bodyPr>
          <a:lstStyle/>
          <a:p>
            <a:pPr algn="ctr"/>
            <a:r>
              <a:rPr sz="1100" b="1" i="0">
                <a:solidFill>
                  <a:srgbClr val="999999"/>
                </a:solidFill>
                <a:latin typeface="Calibri"/>
              </a:rPr>
              <a:t>Vault Auth</a:t>
            </a:r>
          </a:p>
        </p:txBody>
      </p:sp>
      <p:sp>
        <p:nvSpPr>
          <p:cNvPr id="8" name="TextBox 7"/>
          <p:cNvSpPr txBox="1"/>
          <p:nvPr/>
        </p:nvSpPr>
        <p:spPr>
          <a:xfrm>
            <a:off x="5029200" y="1371600"/>
            <a:ext cx="2103120" cy="365760"/>
          </a:xfrm>
          <a:prstGeom prst="rect">
            <a:avLst/>
          </a:prstGeom>
          <a:noFill/>
        </p:spPr>
        <p:txBody>
          <a:bodyPr wrap="square">
            <a:spAutoFit/>
          </a:bodyPr>
          <a:lstStyle/>
          <a:p>
            <a:pPr algn="ctr"/>
            <a:r>
              <a:rPr sz="1100" b="1" i="0">
                <a:solidFill>
                  <a:srgbClr val="999999"/>
                </a:solidFill>
                <a:latin typeface="Calibri"/>
              </a:rPr>
              <a:t>Vault Identity</a:t>
            </a:r>
          </a:p>
        </p:txBody>
      </p:sp>
      <p:sp>
        <p:nvSpPr>
          <p:cNvPr id="9" name="TextBox 8"/>
          <p:cNvSpPr txBox="1"/>
          <p:nvPr/>
        </p:nvSpPr>
        <p:spPr>
          <a:xfrm>
            <a:off x="7315200" y="1371600"/>
            <a:ext cx="2103120" cy="365760"/>
          </a:xfrm>
          <a:prstGeom prst="rect">
            <a:avLst/>
          </a:prstGeom>
          <a:noFill/>
        </p:spPr>
        <p:txBody>
          <a:bodyPr wrap="square">
            <a:spAutoFit/>
          </a:bodyPr>
          <a:lstStyle/>
          <a:p>
            <a:pPr algn="ctr"/>
            <a:r>
              <a:rPr sz="1100" b="1" i="0">
                <a:solidFill>
                  <a:srgbClr val="999999"/>
                </a:solidFill>
                <a:latin typeface="Calibri"/>
              </a:rPr>
              <a:t>Vault Policy</a:t>
            </a:r>
          </a:p>
        </p:txBody>
      </p:sp>
      <p:sp>
        <p:nvSpPr>
          <p:cNvPr id="10" name="TextBox 9"/>
          <p:cNvSpPr txBox="1"/>
          <p:nvPr/>
        </p:nvSpPr>
        <p:spPr>
          <a:xfrm>
            <a:off x="9692640" y="1371600"/>
            <a:ext cx="2103120" cy="365760"/>
          </a:xfrm>
          <a:prstGeom prst="rect">
            <a:avLst/>
          </a:prstGeom>
          <a:noFill/>
        </p:spPr>
        <p:txBody>
          <a:bodyPr wrap="square">
            <a:spAutoFit/>
          </a:bodyPr>
          <a:lstStyle/>
          <a:p>
            <a:pPr algn="ctr"/>
            <a:r>
              <a:rPr sz="1100" b="1" i="0">
                <a:solidFill>
                  <a:srgbClr val="999999"/>
                </a:solidFill>
                <a:latin typeface="Calibri"/>
              </a:rPr>
              <a:t>MongoDB Role</a:t>
            </a:r>
          </a:p>
        </p:txBody>
      </p:sp>
      <p:sp>
        <p:nvSpPr>
          <p:cNvPr id="11" name="Rectangle 10"/>
          <p:cNvSpPr/>
          <p:nvPr/>
        </p:nvSpPr>
        <p:spPr>
          <a:xfrm>
            <a:off x="457200" y="1764792"/>
            <a:ext cx="1124712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2011680" cy="685800"/>
          </a:xfrm>
          <a:prstGeom prst="rect">
            <a:avLst/>
          </a:prstGeom>
          <a:noFill/>
        </p:spPr>
        <p:txBody>
          <a:bodyPr wrap="square">
            <a:spAutoFit/>
          </a:bodyPr>
          <a:lstStyle/>
          <a:p>
            <a:pPr algn="ctr"/>
            <a:r>
              <a:rPr sz="1200" b="1" i="0">
                <a:solidFill>
                  <a:srgbClr val="0F62FE"/>
                </a:solidFill>
                <a:latin typeface="Calibri"/>
              </a:rPr>
              <a:t>db-readonly
group</a:t>
            </a:r>
          </a:p>
        </p:txBody>
      </p:sp>
      <p:sp>
        <p:nvSpPr>
          <p:cNvPr id="13" name="TextBox 12"/>
          <p:cNvSpPr txBox="1"/>
          <p:nvPr/>
        </p:nvSpPr>
        <p:spPr>
          <a:xfrm>
            <a:off x="2651760" y="210312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14" name="TextBox 13"/>
          <p:cNvSpPr txBox="1"/>
          <p:nvPr/>
        </p:nvSpPr>
        <p:spPr>
          <a:xfrm>
            <a:off x="2834640" y="1920240"/>
            <a:ext cx="2011680" cy="777240"/>
          </a:xfrm>
          <a:prstGeom prst="rect">
            <a:avLst/>
          </a:prstGeom>
          <a:noFill/>
        </p:spPr>
        <p:txBody>
          <a:bodyPr wrap="square">
            <a:spAutoFit/>
          </a:bodyPr>
          <a:lstStyle/>
          <a:p>
            <a:pPr algn="ctr"/>
            <a:r>
              <a:rPr sz="1000" b="0" i="0">
                <a:solidFill>
                  <a:srgbClr val="FFFFFF"/>
                </a:solidFill>
                <a:latin typeface="Calibri"/>
              </a:rPr>
              <a:t>JWT login
groups claim
extracted</a:t>
            </a:r>
          </a:p>
        </p:txBody>
      </p:sp>
      <p:sp>
        <p:nvSpPr>
          <p:cNvPr id="15" name="TextBox 14"/>
          <p:cNvSpPr txBox="1"/>
          <p:nvPr/>
        </p:nvSpPr>
        <p:spPr>
          <a:xfrm>
            <a:off x="4846320" y="210312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16" name="TextBox 15"/>
          <p:cNvSpPr txBox="1"/>
          <p:nvPr/>
        </p:nvSpPr>
        <p:spPr>
          <a:xfrm>
            <a:off x="5029200" y="1920240"/>
            <a:ext cx="2103120" cy="777240"/>
          </a:xfrm>
          <a:prstGeom prst="rect">
            <a:avLst/>
          </a:prstGeom>
          <a:noFill/>
        </p:spPr>
        <p:txBody>
          <a:bodyPr wrap="square">
            <a:spAutoFit/>
          </a:bodyPr>
          <a:lstStyle/>
          <a:p>
            <a:pPr algn="ctr"/>
            <a:r>
              <a:rPr sz="1000" b="0" i="0">
                <a:solidFill>
                  <a:srgbClr val="FFFFFF"/>
                </a:solidFill>
                <a:latin typeface="Calibri"/>
              </a:rPr>
              <a:t>readonly
identity group
alias match</a:t>
            </a:r>
          </a:p>
        </p:txBody>
      </p:sp>
      <p:sp>
        <p:nvSpPr>
          <p:cNvPr id="17" name="TextBox 16"/>
          <p:cNvSpPr txBox="1"/>
          <p:nvPr/>
        </p:nvSpPr>
        <p:spPr>
          <a:xfrm>
            <a:off x="7132320" y="210312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18" name="TextBox 17"/>
          <p:cNvSpPr txBox="1"/>
          <p:nvPr/>
        </p:nvSpPr>
        <p:spPr>
          <a:xfrm>
            <a:off x="7315200" y="1920240"/>
            <a:ext cx="2103120" cy="685800"/>
          </a:xfrm>
          <a:prstGeom prst="rect">
            <a:avLst/>
          </a:prstGeom>
          <a:noFill/>
        </p:spPr>
        <p:txBody>
          <a:bodyPr wrap="square">
            <a:spAutoFit/>
          </a:bodyPr>
          <a:lstStyle/>
          <a:p>
            <a:pPr algn="ctr"/>
            <a:r>
              <a:rPr sz="1200" b="1" i="0">
                <a:solidFill>
                  <a:srgbClr val="FFD714"/>
                </a:solidFill>
                <a:latin typeface="Calibri"/>
              </a:rPr>
              <a:t>readonly
policy applied</a:t>
            </a:r>
          </a:p>
        </p:txBody>
      </p:sp>
      <p:sp>
        <p:nvSpPr>
          <p:cNvPr id="19" name="TextBox 18"/>
          <p:cNvSpPr txBox="1"/>
          <p:nvPr/>
        </p:nvSpPr>
        <p:spPr>
          <a:xfrm>
            <a:off x="9509760" y="2103120"/>
            <a:ext cx="228600" cy="320040"/>
          </a:xfrm>
          <a:prstGeom prst="rect">
            <a:avLst/>
          </a:prstGeom>
          <a:noFill/>
        </p:spPr>
        <p:txBody>
          <a:bodyPr wrap="square">
            <a:spAutoFit/>
          </a:bodyPr>
          <a:lstStyle/>
          <a:p>
            <a:pPr algn="ctr"/>
            <a:r>
              <a:rPr sz="1400" b="1" i="0">
                <a:solidFill>
                  <a:srgbClr val="999999"/>
                </a:solidFill>
                <a:latin typeface="Calibri"/>
              </a:rPr>
              <a:t>→</a:t>
            </a:r>
          </a:p>
        </p:txBody>
      </p:sp>
      <p:sp>
        <p:nvSpPr>
          <p:cNvPr id="20" name="TextBox 19"/>
          <p:cNvSpPr txBox="1"/>
          <p:nvPr/>
        </p:nvSpPr>
        <p:spPr>
          <a:xfrm>
            <a:off x="9692640" y="1920240"/>
            <a:ext cx="2103120" cy="777240"/>
          </a:xfrm>
          <a:prstGeom prst="rect">
            <a:avLst/>
          </a:prstGeom>
          <a:noFill/>
        </p:spPr>
        <p:txBody>
          <a:bodyPr wrap="square">
            <a:spAutoFit/>
          </a:bodyPr>
          <a:lstStyle/>
          <a:p>
            <a:pPr algn="ctr"/>
            <a:r>
              <a:rPr sz="1100" b="1" i="0">
                <a:solidFill>
                  <a:srgbClr val="0F62FE"/>
                </a:solidFill>
                <a:latin typeface="Calibri"/>
              </a:rPr>
              <a:t>read
on test db
5-min TTL</a:t>
            </a:r>
          </a:p>
        </p:txBody>
      </p:sp>
      <p:sp>
        <p:nvSpPr>
          <p:cNvPr id="21" name="TextBox 20"/>
          <p:cNvSpPr txBox="1"/>
          <p:nvPr/>
        </p:nvSpPr>
        <p:spPr>
          <a:xfrm>
            <a:off x="640080" y="2651760"/>
            <a:ext cx="2011680" cy="274320"/>
          </a:xfrm>
          <a:prstGeom prst="rect">
            <a:avLst/>
          </a:prstGeom>
          <a:noFill/>
        </p:spPr>
        <p:txBody>
          <a:bodyPr wrap="square">
            <a:spAutoFit/>
          </a:bodyPr>
          <a:lstStyle/>
          <a:p>
            <a:pPr algn="ctr"/>
            <a:r>
              <a:rPr sz="900" b="0" i="0">
                <a:solidFill>
                  <a:srgbClr val="999999"/>
                </a:solidFill>
                <a:latin typeface="Calibri"/>
              </a:rPr>
              <a:t>ALICE</a:t>
            </a:r>
          </a:p>
        </p:txBody>
      </p:sp>
      <p:sp>
        <p:nvSpPr>
          <p:cNvPr id="22" name="Rectangle 21"/>
          <p:cNvSpPr/>
          <p:nvPr/>
        </p:nvSpPr>
        <p:spPr>
          <a:xfrm>
            <a:off x="457200" y="2926080"/>
            <a:ext cx="1124712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108960"/>
            <a:ext cx="2011680" cy="685800"/>
          </a:xfrm>
          <a:prstGeom prst="rect">
            <a:avLst/>
          </a:prstGeom>
          <a:noFill/>
        </p:spPr>
        <p:txBody>
          <a:bodyPr wrap="square">
            <a:spAutoFit/>
          </a:bodyPr>
          <a:lstStyle/>
          <a:p>
            <a:pPr algn="ctr"/>
            <a:r>
              <a:rPr sz="1200" b="1" i="0">
                <a:solidFill>
                  <a:srgbClr val="42BE65"/>
                </a:solidFill>
                <a:latin typeface="Calibri"/>
              </a:rPr>
              <a:t>db-readwrite
group</a:t>
            </a:r>
          </a:p>
        </p:txBody>
      </p:sp>
      <p:sp>
        <p:nvSpPr>
          <p:cNvPr id="24" name="TextBox 23"/>
          <p:cNvSpPr txBox="1"/>
          <p:nvPr/>
        </p:nvSpPr>
        <p:spPr>
          <a:xfrm>
            <a:off x="2651760" y="329184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25" name="TextBox 24"/>
          <p:cNvSpPr txBox="1"/>
          <p:nvPr/>
        </p:nvSpPr>
        <p:spPr>
          <a:xfrm>
            <a:off x="2834640" y="3108960"/>
            <a:ext cx="2011680" cy="777240"/>
          </a:xfrm>
          <a:prstGeom prst="rect">
            <a:avLst/>
          </a:prstGeom>
          <a:noFill/>
        </p:spPr>
        <p:txBody>
          <a:bodyPr wrap="square">
            <a:spAutoFit/>
          </a:bodyPr>
          <a:lstStyle/>
          <a:p>
            <a:pPr algn="ctr"/>
            <a:r>
              <a:rPr sz="1000" b="0" i="0">
                <a:solidFill>
                  <a:srgbClr val="FFFFFF"/>
                </a:solidFill>
                <a:latin typeface="Calibri"/>
              </a:rPr>
              <a:t>JWT login
groups claim
extracted</a:t>
            </a:r>
          </a:p>
        </p:txBody>
      </p:sp>
      <p:sp>
        <p:nvSpPr>
          <p:cNvPr id="26" name="TextBox 25"/>
          <p:cNvSpPr txBox="1"/>
          <p:nvPr/>
        </p:nvSpPr>
        <p:spPr>
          <a:xfrm>
            <a:off x="4846320" y="329184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27" name="TextBox 26"/>
          <p:cNvSpPr txBox="1"/>
          <p:nvPr/>
        </p:nvSpPr>
        <p:spPr>
          <a:xfrm>
            <a:off x="5029200" y="3108960"/>
            <a:ext cx="2103120" cy="777240"/>
          </a:xfrm>
          <a:prstGeom prst="rect">
            <a:avLst/>
          </a:prstGeom>
          <a:noFill/>
        </p:spPr>
        <p:txBody>
          <a:bodyPr wrap="square">
            <a:spAutoFit/>
          </a:bodyPr>
          <a:lstStyle/>
          <a:p>
            <a:pPr algn="ctr"/>
            <a:r>
              <a:rPr sz="1000" b="0" i="0">
                <a:solidFill>
                  <a:srgbClr val="FFFFFF"/>
                </a:solidFill>
                <a:latin typeface="Calibri"/>
              </a:rPr>
              <a:t>readwrite
identity group
alias match</a:t>
            </a:r>
          </a:p>
        </p:txBody>
      </p:sp>
      <p:sp>
        <p:nvSpPr>
          <p:cNvPr id="28" name="TextBox 27"/>
          <p:cNvSpPr txBox="1"/>
          <p:nvPr/>
        </p:nvSpPr>
        <p:spPr>
          <a:xfrm>
            <a:off x="7132320" y="3291840"/>
            <a:ext cx="274320" cy="320040"/>
          </a:xfrm>
          <a:prstGeom prst="rect">
            <a:avLst/>
          </a:prstGeom>
          <a:noFill/>
        </p:spPr>
        <p:txBody>
          <a:bodyPr wrap="square">
            <a:spAutoFit/>
          </a:bodyPr>
          <a:lstStyle/>
          <a:p>
            <a:pPr algn="ctr"/>
            <a:r>
              <a:rPr sz="1400" b="1" i="0">
                <a:solidFill>
                  <a:srgbClr val="999999"/>
                </a:solidFill>
                <a:latin typeface="Calibri"/>
              </a:rPr>
              <a:t>→</a:t>
            </a:r>
          </a:p>
        </p:txBody>
      </p:sp>
      <p:sp>
        <p:nvSpPr>
          <p:cNvPr id="29" name="TextBox 28"/>
          <p:cNvSpPr txBox="1"/>
          <p:nvPr/>
        </p:nvSpPr>
        <p:spPr>
          <a:xfrm>
            <a:off x="7315200" y="3108960"/>
            <a:ext cx="2103120" cy="685800"/>
          </a:xfrm>
          <a:prstGeom prst="rect">
            <a:avLst/>
          </a:prstGeom>
          <a:noFill/>
        </p:spPr>
        <p:txBody>
          <a:bodyPr wrap="square">
            <a:spAutoFit/>
          </a:bodyPr>
          <a:lstStyle/>
          <a:p>
            <a:pPr algn="ctr"/>
            <a:r>
              <a:rPr sz="1200" b="1" i="0">
                <a:solidFill>
                  <a:srgbClr val="FFD714"/>
                </a:solidFill>
                <a:latin typeface="Calibri"/>
              </a:rPr>
              <a:t>readwrite
policy applied</a:t>
            </a:r>
          </a:p>
        </p:txBody>
      </p:sp>
      <p:sp>
        <p:nvSpPr>
          <p:cNvPr id="30" name="TextBox 29"/>
          <p:cNvSpPr txBox="1"/>
          <p:nvPr/>
        </p:nvSpPr>
        <p:spPr>
          <a:xfrm>
            <a:off x="9509760" y="3291840"/>
            <a:ext cx="228600" cy="320040"/>
          </a:xfrm>
          <a:prstGeom prst="rect">
            <a:avLst/>
          </a:prstGeom>
          <a:noFill/>
        </p:spPr>
        <p:txBody>
          <a:bodyPr wrap="square">
            <a:spAutoFit/>
          </a:bodyPr>
          <a:lstStyle/>
          <a:p>
            <a:pPr algn="ctr"/>
            <a:r>
              <a:rPr sz="1400" b="1" i="0">
                <a:solidFill>
                  <a:srgbClr val="999999"/>
                </a:solidFill>
                <a:latin typeface="Calibri"/>
              </a:rPr>
              <a:t>→</a:t>
            </a:r>
          </a:p>
        </p:txBody>
      </p:sp>
      <p:sp>
        <p:nvSpPr>
          <p:cNvPr id="31" name="TextBox 30"/>
          <p:cNvSpPr txBox="1"/>
          <p:nvPr/>
        </p:nvSpPr>
        <p:spPr>
          <a:xfrm>
            <a:off x="9692640" y="3108960"/>
            <a:ext cx="2103120" cy="777240"/>
          </a:xfrm>
          <a:prstGeom prst="rect">
            <a:avLst/>
          </a:prstGeom>
          <a:noFill/>
        </p:spPr>
        <p:txBody>
          <a:bodyPr wrap="square">
            <a:spAutoFit/>
          </a:bodyPr>
          <a:lstStyle/>
          <a:p>
            <a:pPr algn="ctr"/>
            <a:r>
              <a:rPr sz="1100" b="1" i="0">
                <a:solidFill>
                  <a:srgbClr val="42BE65"/>
                </a:solidFill>
                <a:latin typeface="Calibri"/>
              </a:rPr>
              <a:t>readWrite
on test db
5-min TTL</a:t>
            </a:r>
          </a:p>
        </p:txBody>
      </p:sp>
      <p:sp>
        <p:nvSpPr>
          <p:cNvPr id="32" name="TextBox 31"/>
          <p:cNvSpPr txBox="1"/>
          <p:nvPr/>
        </p:nvSpPr>
        <p:spPr>
          <a:xfrm>
            <a:off x="640080" y="3794760"/>
            <a:ext cx="2011680" cy="274320"/>
          </a:xfrm>
          <a:prstGeom prst="rect">
            <a:avLst/>
          </a:prstGeom>
          <a:noFill/>
        </p:spPr>
        <p:txBody>
          <a:bodyPr wrap="square">
            <a:spAutoFit/>
          </a:bodyPr>
          <a:lstStyle/>
          <a:p>
            <a:pPr algn="ctr"/>
            <a:r>
              <a:rPr sz="900" b="0" i="0">
                <a:solidFill>
                  <a:srgbClr val="999999"/>
                </a:solidFill>
                <a:latin typeface="Calibri"/>
              </a:rPr>
              <a:t>BOB</a:t>
            </a:r>
          </a:p>
        </p:txBody>
      </p:sp>
      <p:sp>
        <p:nvSpPr>
          <p:cNvPr id="33" name="Rectangle 32"/>
          <p:cNvSpPr/>
          <p:nvPr/>
        </p:nvSpPr>
        <p:spPr>
          <a:xfrm>
            <a:off x="457200" y="4206240"/>
            <a:ext cx="11247120" cy="141732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51960"/>
            <a:ext cx="10972800" cy="502920"/>
          </a:xfrm>
          <a:prstGeom prst="rect">
            <a:avLst/>
          </a:prstGeom>
          <a:noFill/>
        </p:spPr>
        <p:txBody>
          <a:bodyPr wrap="square">
            <a:spAutoFit/>
          </a:bodyPr>
          <a:lstStyle/>
          <a:p>
            <a:pPr algn="ctr"/>
            <a:r>
              <a:rPr sz="1400" b="1" i="0">
                <a:solidFill>
                  <a:srgbClr val="FFD714"/>
                </a:solidFill>
                <a:latin typeface="Calibri"/>
              </a:rPr>
              <a:t>Key Insight: The application code has zero authorization logic. Vault is the single source of truth for who can do what.</a:t>
            </a:r>
          </a:p>
        </p:txBody>
      </p:sp>
      <p:sp>
        <p:nvSpPr>
          <p:cNvPr id="35" name="TextBox 34"/>
          <p:cNvSpPr txBox="1"/>
          <p:nvPr/>
        </p:nvSpPr>
        <p:spPr>
          <a:xfrm>
            <a:off x="640080" y="4754880"/>
            <a:ext cx="10972800" cy="640080"/>
          </a:xfrm>
          <a:prstGeom prst="rect">
            <a:avLst/>
          </a:prstGeom>
          <a:noFill/>
        </p:spPr>
        <p:txBody>
          <a:bodyPr wrap="square">
            <a:spAutoFit/>
          </a:bodyPr>
          <a:lstStyle/>
          <a:p>
            <a:pPr algn="ctr"/>
            <a:r>
              <a:rPr sz="1200" b="0" i="0">
                <a:solidFill>
                  <a:srgbClr val="FFFFFF"/>
                </a:solidFill>
                <a:latin typeface="Calibri"/>
              </a:rPr>
              <a:t>Both users hit the same API endpoints. Vault's identity engine—not application code—determines the credential scope.</a:t>
            </a:r>
          </a:p>
        </p:txBody>
      </p:sp>
      <p:sp>
        <p:nvSpPr>
          <p:cNvPr id="36" name="TextBox 35"/>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37" name="TextBox 36"/>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Short-Lived Credentials: The Last Line of Defense</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5-minute TTL · Auto-revoked · No rotation schedule needed</a:t>
            </a:r>
          </a:p>
        </p:txBody>
      </p:sp>
      <p:sp>
        <p:nvSpPr>
          <p:cNvPr id="5" name="Rectangle 4"/>
          <p:cNvSpPr/>
          <p:nvPr/>
        </p:nvSpPr>
        <p:spPr>
          <a:xfrm>
            <a:off x="457200" y="1371600"/>
            <a:ext cx="11247120" cy="73152"/>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1316736"/>
            <a:ext cx="146304" cy="20116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79" y="1554480"/>
            <a:ext cx="1280160" cy="502920"/>
          </a:xfrm>
          <a:prstGeom prst="rect">
            <a:avLst/>
          </a:prstGeom>
          <a:noFill/>
        </p:spPr>
        <p:txBody>
          <a:bodyPr wrap="square">
            <a:spAutoFit/>
          </a:bodyPr>
          <a:lstStyle/>
          <a:p>
            <a:pPr algn="ctr"/>
            <a:r>
              <a:rPr sz="900" b="1" i="0">
                <a:solidFill>
                  <a:srgbClr val="FFD714"/>
                </a:solidFill>
                <a:latin typeface="Calibri"/>
              </a:rPr>
              <a:t>t=0
Request</a:t>
            </a:r>
          </a:p>
        </p:txBody>
      </p:sp>
      <p:sp>
        <p:nvSpPr>
          <p:cNvPr id="8" name="TextBox 7"/>
          <p:cNvSpPr txBox="1"/>
          <p:nvPr/>
        </p:nvSpPr>
        <p:spPr>
          <a:xfrm>
            <a:off x="-182879" y="2103120"/>
            <a:ext cx="1280160" cy="502920"/>
          </a:xfrm>
          <a:prstGeom prst="rect">
            <a:avLst/>
          </a:prstGeom>
          <a:noFill/>
        </p:spPr>
        <p:txBody>
          <a:bodyPr wrap="square">
            <a:spAutoFit/>
          </a:bodyPr>
          <a:lstStyle/>
          <a:p>
            <a:pPr algn="ctr"/>
            <a:r>
              <a:rPr sz="900" b="0" i="0">
                <a:solidFill>
                  <a:srgbClr val="999999"/>
                </a:solidFill>
                <a:latin typeface="Calibri"/>
              </a:rPr>
              <a:t>User sends
chat message</a:t>
            </a:r>
          </a:p>
        </p:txBody>
      </p:sp>
      <p:sp>
        <p:nvSpPr>
          <p:cNvPr id="9" name="Rectangle 8"/>
          <p:cNvSpPr/>
          <p:nvPr/>
        </p:nvSpPr>
        <p:spPr>
          <a:xfrm>
            <a:off x="2852928" y="1316736"/>
            <a:ext cx="146304" cy="20116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554480"/>
            <a:ext cx="1280160" cy="502920"/>
          </a:xfrm>
          <a:prstGeom prst="rect">
            <a:avLst/>
          </a:prstGeom>
          <a:noFill/>
        </p:spPr>
        <p:txBody>
          <a:bodyPr wrap="square">
            <a:spAutoFit/>
          </a:bodyPr>
          <a:lstStyle/>
          <a:p>
            <a:pPr algn="ctr"/>
            <a:r>
              <a:rPr sz="900" b="1" i="0">
                <a:solidFill>
                  <a:srgbClr val="0F62FE"/>
                </a:solidFill>
                <a:latin typeface="Calibri"/>
              </a:rPr>
              <a:t>t~1s
OBO Exchange</a:t>
            </a:r>
          </a:p>
        </p:txBody>
      </p:sp>
      <p:sp>
        <p:nvSpPr>
          <p:cNvPr id="11" name="TextBox 10"/>
          <p:cNvSpPr txBox="1"/>
          <p:nvPr/>
        </p:nvSpPr>
        <p:spPr>
          <a:xfrm>
            <a:off x="2286000" y="2103120"/>
            <a:ext cx="1280160" cy="502920"/>
          </a:xfrm>
          <a:prstGeom prst="rect">
            <a:avLst/>
          </a:prstGeom>
          <a:noFill/>
        </p:spPr>
        <p:txBody>
          <a:bodyPr wrap="square">
            <a:spAutoFit/>
          </a:bodyPr>
          <a:lstStyle/>
          <a:p>
            <a:pPr algn="ctr"/>
            <a:r>
              <a:rPr sz="900" b="0" i="0">
                <a:solidFill>
                  <a:srgbClr val="999999"/>
                </a:solidFill>
                <a:latin typeface="Calibri"/>
              </a:rPr>
              <a:t>Entra ID issues
OBO token</a:t>
            </a:r>
          </a:p>
        </p:txBody>
      </p:sp>
      <p:sp>
        <p:nvSpPr>
          <p:cNvPr id="12" name="Rectangle 11"/>
          <p:cNvSpPr/>
          <p:nvPr/>
        </p:nvSpPr>
        <p:spPr>
          <a:xfrm>
            <a:off x="5321808" y="1316736"/>
            <a:ext cx="146304" cy="20116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554480"/>
            <a:ext cx="1280160" cy="502920"/>
          </a:xfrm>
          <a:prstGeom prst="rect">
            <a:avLst/>
          </a:prstGeom>
          <a:noFill/>
        </p:spPr>
        <p:txBody>
          <a:bodyPr wrap="square">
            <a:spAutoFit/>
          </a:bodyPr>
          <a:lstStyle/>
          <a:p>
            <a:pPr algn="ctr"/>
            <a:r>
              <a:rPr sz="900" b="1" i="0">
                <a:solidFill>
                  <a:srgbClr val="FFD714"/>
                </a:solidFill>
                <a:latin typeface="Calibri"/>
              </a:rPr>
              <a:t>t~2s
Vault Login</a:t>
            </a:r>
          </a:p>
        </p:txBody>
      </p:sp>
      <p:sp>
        <p:nvSpPr>
          <p:cNvPr id="14" name="TextBox 13"/>
          <p:cNvSpPr txBox="1"/>
          <p:nvPr/>
        </p:nvSpPr>
        <p:spPr>
          <a:xfrm>
            <a:off x="4754880" y="2103120"/>
            <a:ext cx="1280160" cy="502920"/>
          </a:xfrm>
          <a:prstGeom prst="rect">
            <a:avLst/>
          </a:prstGeom>
          <a:noFill/>
        </p:spPr>
        <p:txBody>
          <a:bodyPr wrap="square">
            <a:spAutoFit/>
          </a:bodyPr>
          <a:lstStyle/>
          <a:p>
            <a:pPr algn="ctr"/>
            <a:r>
              <a:rPr sz="900" b="0" i="0">
                <a:solidFill>
                  <a:srgbClr val="999999"/>
                </a:solidFill>
                <a:latin typeface="Calibri"/>
              </a:rPr>
              <a:t>JWT validated
Creds issued</a:t>
            </a:r>
          </a:p>
        </p:txBody>
      </p:sp>
      <p:sp>
        <p:nvSpPr>
          <p:cNvPr id="15" name="Rectangle 14"/>
          <p:cNvSpPr/>
          <p:nvPr/>
        </p:nvSpPr>
        <p:spPr>
          <a:xfrm>
            <a:off x="7699248" y="1316736"/>
            <a:ext cx="146304" cy="201168"/>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1554480"/>
            <a:ext cx="1280160" cy="502920"/>
          </a:xfrm>
          <a:prstGeom prst="rect">
            <a:avLst/>
          </a:prstGeom>
          <a:noFill/>
        </p:spPr>
        <p:txBody>
          <a:bodyPr wrap="square">
            <a:spAutoFit/>
          </a:bodyPr>
          <a:lstStyle/>
          <a:p>
            <a:pPr algn="ctr"/>
            <a:r>
              <a:rPr sz="900" b="1" i="0">
                <a:solidFill>
                  <a:srgbClr val="42BE65"/>
                </a:solidFill>
                <a:latin typeface="Calibri"/>
              </a:rPr>
              <a:t>t~3s
DB Operation</a:t>
            </a:r>
          </a:p>
        </p:txBody>
      </p:sp>
      <p:sp>
        <p:nvSpPr>
          <p:cNvPr id="17" name="TextBox 16"/>
          <p:cNvSpPr txBox="1"/>
          <p:nvPr/>
        </p:nvSpPr>
        <p:spPr>
          <a:xfrm>
            <a:off x="7132320" y="2103120"/>
            <a:ext cx="1280160" cy="502920"/>
          </a:xfrm>
          <a:prstGeom prst="rect">
            <a:avLst/>
          </a:prstGeom>
          <a:noFill/>
        </p:spPr>
        <p:txBody>
          <a:bodyPr wrap="square">
            <a:spAutoFit/>
          </a:bodyPr>
          <a:lstStyle/>
          <a:p>
            <a:pPr algn="ctr"/>
            <a:r>
              <a:rPr sz="900" b="0" i="0">
                <a:solidFill>
                  <a:srgbClr val="999999"/>
                </a:solidFill>
                <a:latin typeface="Calibri"/>
              </a:rPr>
              <a:t>Query executes
with dynamic creds</a:t>
            </a:r>
          </a:p>
        </p:txBody>
      </p:sp>
      <p:sp>
        <p:nvSpPr>
          <p:cNvPr id="18" name="Rectangle 17"/>
          <p:cNvSpPr/>
          <p:nvPr/>
        </p:nvSpPr>
        <p:spPr>
          <a:xfrm>
            <a:off x="9985248" y="1316736"/>
            <a:ext cx="146304" cy="201168"/>
          </a:xfrm>
          <a:prstGeom prst="rect">
            <a:avLst/>
          </a:prstGeom>
          <a:solidFill>
            <a:srgbClr val="FA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1554480"/>
            <a:ext cx="1280160" cy="502920"/>
          </a:xfrm>
          <a:prstGeom prst="rect">
            <a:avLst/>
          </a:prstGeom>
          <a:noFill/>
        </p:spPr>
        <p:txBody>
          <a:bodyPr wrap="square">
            <a:spAutoFit/>
          </a:bodyPr>
          <a:lstStyle/>
          <a:p>
            <a:pPr algn="ctr"/>
            <a:r>
              <a:rPr sz="900" b="1" i="0">
                <a:solidFill>
                  <a:srgbClr val="FA4D56"/>
                </a:solidFill>
                <a:latin typeface="Calibri"/>
              </a:rPr>
              <a:t>t=5min
Auto-Revoke</a:t>
            </a:r>
          </a:p>
        </p:txBody>
      </p:sp>
      <p:sp>
        <p:nvSpPr>
          <p:cNvPr id="20" name="TextBox 19"/>
          <p:cNvSpPr txBox="1"/>
          <p:nvPr/>
        </p:nvSpPr>
        <p:spPr>
          <a:xfrm>
            <a:off x="9418320" y="2103120"/>
            <a:ext cx="1280160" cy="502920"/>
          </a:xfrm>
          <a:prstGeom prst="rect">
            <a:avLst/>
          </a:prstGeom>
          <a:noFill/>
        </p:spPr>
        <p:txBody>
          <a:bodyPr wrap="square">
            <a:spAutoFit/>
          </a:bodyPr>
          <a:lstStyle/>
          <a:p>
            <a:pPr algn="ctr"/>
            <a:r>
              <a:rPr sz="900" b="0" i="0">
                <a:solidFill>
                  <a:srgbClr val="999999"/>
                </a:solidFill>
                <a:latin typeface="Calibri"/>
              </a:rPr>
              <a:t>Vault revokes
MongoDB user</a:t>
            </a:r>
          </a:p>
        </p:txBody>
      </p:sp>
      <p:sp>
        <p:nvSpPr>
          <p:cNvPr id="21" name="Rectangle 20"/>
          <p:cNvSpPr/>
          <p:nvPr/>
        </p:nvSpPr>
        <p:spPr>
          <a:xfrm>
            <a:off x="457200" y="2743200"/>
            <a:ext cx="3657600" cy="347472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743200"/>
            <a:ext cx="3657600" cy="6400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834640"/>
            <a:ext cx="3383280" cy="411480"/>
          </a:xfrm>
          <a:prstGeom prst="rect">
            <a:avLst/>
          </a:prstGeom>
          <a:noFill/>
        </p:spPr>
        <p:txBody>
          <a:bodyPr wrap="square">
            <a:spAutoFit/>
          </a:bodyPr>
          <a:lstStyle/>
          <a:p>
            <a:pPr algn="l"/>
            <a:r>
              <a:rPr sz="1400" b="1" i="0">
                <a:solidFill>
                  <a:srgbClr val="FFD714"/>
                </a:solidFill>
                <a:latin typeface="Calibri"/>
              </a:rPr>
              <a:t>Zero Blast Radius</a:t>
            </a:r>
          </a:p>
        </p:txBody>
      </p:sp>
      <p:sp>
        <p:nvSpPr>
          <p:cNvPr id="24" name="TextBox 23"/>
          <p:cNvSpPr txBox="1"/>
          <p:nvPr/>
        </p:nvSpPr>
        <p:spPr>
          <a:xfrm>
            <a:off x="731520" y="3429000"/>
            <a:ext cx="3108960" cy="2560320"/>
          </a:xfrm>
          <a:prstGeom prst="rect">
            <a:avLst/>
          </a:prstGeom>
          <a:noFill/>
        </p:spPr>
        <p:txBody>
          <a:bodyPr wrap="square">
            <a:spAutoFit/>
          </a:bodyPr>
          <a:lstStyle/>
          <a:p>
            <a:pPr>
              <a:spcBef>
                <a:spcPts val="400"/>
              </a:spcBef>
            </a:pPr>
            <a:r>
              <a:rPr sz="1200">
                <a:solidFill>
                  <a:srgbClr val="FFFFFF"/>
                </a:solidFill>
              </a:rPr>
              <a:t>▸  Credentials expire in 5 minutes</a:t>
            </a:r>
          </a:p>
          <a:p>
            <a:pPr>
              <a:spcBef>
                <a:spcPts val="400"/>
              </a:spcBef>
            </a:pPr>
            <a:r>
              <a:rPr sz="1200">
                <a:solidFill>
                  <a:srgbClr val="FFFFFF"/>
                </a:solidFill>
              </a:rPr>
              <a:t>▸  Vault auto-revokes MongoDB user</a:t>
            </a:r>
          </a:p>
          <a:p>
            <a:pPr>
              <a:spcBef>
                <a:spcPts val="400"/>
              </a:spcBef>
            </a:pPr>
            <a:r>
              <a:rPr sz="1200">
                <a:solidFill>
                  <a:srgbClr val="FFFFFF"/>
                </a:solidFill>
              </a:rPr>
              <a:t>▸  No rotation schedule to manage</a:t>
            </a:r>
          </a:p>
          <a:p>
            <a:pPr>
              <a:spcBef>
                <a:spcPts val="400"/>
              </a:spcBef>
            </a:pPr>
            <a:r>
              <a:rPr sz="1200">
                <a:solidFill>
                  <a:srgbClr val="FFFFFF"/>
                </a:solidFill>
              </a:rPr>
              <a:t>▸  Intercepted creds are useless in seconds</a:t>
            </a:r>
          </a:p>
        </p:txBody>
      </p:sp>
      <p:sp>
        <p:nvSpPr>
          <p:cNvPr id="25" name="Rectangle 24"/>
          <p:cNvSpPr/>
          <p:nvPr/>
        </p:nvSpPr>
        <p:spPr>
          <a:xfrm>
            <a:off x="4206240" y="2743200"/>
            <a:ext cx="3657600" cy="347472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0" y="2743200"/>
            <a:ext cx="3657600" cy="6400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2834640"/>
            <a:ext cx="3383280" cy="411480"/>
          </a:xfrm>
          <a:prstGeom prst="rect">
            <a:avLst/>
          </a:prstGeom>
          <a:noFill/>
        </p:spPr>
        <p:txBody>
          <a:bodyPr wrap="square">
            <a:spAutoFit/>
          </a:bodyPr>
          <a:lstStyle/>
          <a:p>
            <a:pPr algn="l"/>
            <a:r>
              <a:rPr sz="1400" b="1" i="0">
                <a:solidFill>
                  <a:srgbClr val="0F62FE"/>
                </a:solidFill>
                <a:latin typeface="Calibri"/>
              </a:rPr>
              <a:t>Full Auditability</a:t>
            </a:r>
          </a:p>
        </p:txBody>
      </p:sp>
      <p:sp>
        <p:nvSpPr>
          <p:cNvPr id="28" name="TextBox 27"/>
          <p:cNvSpPr txBox="1"/>
          <p:nvPr/>
        </p:nvSpPr>
        <p:spPr>
          <a:xfrm>
            <a:off x="4480560" y="3429000"/>
            <a:ext cx="3108960" cy="2560320"/>
          </a:xfrm>
          <a:prstGeom prst="rect">
            <a:avLst/>
          </a:prstGeom>
          <a:noFill/>
        </p:spPr>
        <p:txBody>
          <a:bodyPr wrap="square">
            <a:spAutoFit/>
          </a:bodyPr>
          <a:lstStyle/>
          <a:p>
            <a:pPr>
              <a:spcBef>
                <a:spcPts val="400"/>
              </a:spcBef>
            </a:pPr>
            <a:r>
              <a:rPr sz="1200">
                <a:solidFill>
                  <a:srgbClr val="FFFFFF"/>
                </a:solidFill>
              </a:rPr>
              <a:t>▸  Every credential issuance logged in Vault</a:t>
            </a:r>
          </a:p>
          <a:p>
            <a:pPr>
              <a:spcBef>
                <a:spcPts val="400"/>
              </a:spcBef>
            </a:pPr>
            <a:r>
              <a:rPr sz="1200">
                <a:solidFill>
                  <a:srgbClr val="FFFFFF"/>
                </a:solidFill>
              </a:rPr>
              <a:t>▸  Tied to specific user + timestamp</a:t>
            </a:r>
          </a:p>
          <a:p>
            <a:pPr>
              <a:spcBef>
                <a:spcPts val="400"/>
              </a:spcBef>
            </a:pPr>
            <a:r>
              <a:rPr sz="1200">
                <a:solidFill>
                  <a:srgbClr val="FFFFFF"/>
                </a:solidFill>
              </a:rPr>
              <a:t>▸  Vault audit log is tamper-evident</a:t>
            </a:r>
          </a:p>
          <a:p>
            <a:pPr>
              <a:spcBef>
                <a:spcPts val="400"/>
              </a:spcBef>
            </a:pPr>
            <a:r>
              <a:rPr sz="1200">
                <a:solidFill>
                  <a:srgbClr val="FFFFFF"/>
                </a:solidFill>
              </a:rPr>
              <a:t>▸  Compliance-ready out of the box</a:t>
            </a:r>
          </a:p>
        </p:txBody>
      </p:sp>
      <p:sp>
        <p:nvSpPr>
          <p:cNvPr id="29" name="Rectangle 28"/>
          <p:cNvSpPr/>
          <p:nvPr/>
        </p:nvSpPr>
        <p:spPr>
          <a:xfrm>
            <a:off x="7955279" y="2743200"/>
            <a:ext cx="3657600" cy="347472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743200"/>
            <a:ext cx="3657600" cy="64008"/>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2834640"/>
            <a:ext cx="3383280" cy="411480"/>
          </a:xfrm>
          <a:prstGeom prst="rect">
            <a:avLst/>
          </a:prstGeom>
          <a:noFill/>
        </p:spPr>
        <p:txBody>
          <a:bodyPr wrap="square">
            <a:spAutoFit/>
          </a:bodyPr>
          <a:lstStyle/>
          <a:p>
            <a:pPr algn="l"/>
            <a:r>
              <a:rPr sz="1400" b="1" i="0">
                <a:solidFill>
                  <a:srgbClr val="42BE65"/>
                </a:solidFill>
                <a:latin typeface="Calibri"/>
              </a:rPr>
              <a:t>Zero App Secrets</a:t>
            </a:r>
          </a:p>
        </p:txBody>
      </p:sp>
      <p:sp>
        <p:nvSpPr>
          <p:cNvPr id="32" name="TextBox 31"/>
          <p:cNvSpPr txBox="1"/>
          <p:nvPr/>
        </p:nvSpPr>
        <p:spPr>
          <a:xfrm>
            <a:off x="8229600" y="3429000"/>
            <a:ext cx="3108960" cy="2560320"/>
          </a:xfrm>
          <a:prstGeom prst="rect">
            <a:avLst/>
          </a:prstGeom>
          <a:noFill/>
        </p:spPr>
        <p:txBody>
          <a:bodyPr wrap="square">
            <a:spAutoFit/>
          </a:bodyPr>
          <a:lstStyle/>
          <a:p>
            <a:pPr>
              <a:spcBef>
                <a:spcPts val="400"/>
              </a:spcBef>
            </a:pPr>
            <a:r>
              <a:rPr sz="1200">
                <a:solidFill>
                  <a:srgbClr val="FFFFFF"/>
                </a:solidFill>
              </a:rPr>
              <a:t>▸  No database passwords in containers</a:t>
            </a:r>
          </a:p>
          <a:p>
            <a:pPr>
              <a:spcBef>
                <a:spcPts val="400"/>
              </a:spcBef>
            </a:pPr>
            <a:r>
              <a:rPr sz="1200">
                <a:solidFill>
                  <a:srgbClr val="FFFFFF"/>
                </a:solidFill>
              </a:rPr>
              <a:t>▸  No .env files with real credentials</a:t>
            </a:r>
          </a:p>
          <a:p>
            <a:pPr>
              <a:spcBef>
                <a:spcPts val="400"/>
              </a:spcBef>
            </a:pPr>
            <a:r>
              <a:rPr sz="1200">
                <a:solidFill>
                  <a:srgbClr val="FFFFFF"/>
                </a:solidFill>
              </a:rPr>
              <a:t>▸  No Kubernetes secrets with DB creds</a:t>
            </a:r>
          </a:p>
          <a:p>
            <a:pPr>
              <a:spcBef>
                <a:spcPts val="400"/>
              </a:spcBef>
            </a:pPr>
            <a:r>
              <a:rPr sz="1200">
                <a:solidFill>
                  <a:srgbClr val="FFFFFF"/>
                </a:solidFill>
              </a:rPr>
              <a:t>▸  Application starts with no secrets at all</a:t>
            </a:r>
          </a:p>
        </p:txBody>
      </p:sp>
      <p:sp>
        <p:nvSpPr>
          <p:cNvPr id="33" name="TextBox 32"/>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34" name="TextBox 33"/>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228600"/>
            <a:ext cx="11247120" cy="457200"/>
          </a:xfrm>
          <a:prstGeom prst="rect">
            <a:avLst/>
          </a:prstGeom>
          <a:noFill/>
        </p:spPr>
        <p:txBody>
          <a:bodyPr wrap="square">
            <a:spAutoFit/>
          </a:bodyPr>
          <a:lstStyle/>
          <a:p>
            <a:pPr algn="l"/>
            <a:r>
              <a:rPr sz="3200" b="1" i="0">
                <a:solidFill>
                  <a:srgbClr val="FFFFFF"/>
                </a:solidFill>
                <a:latin typeface="Calibri"/>
              </a:rPr>
              <a:t>Enterprise Value: Why This Pattern Matters</a:t>
            </a:r>
          </a:p>
        </p:txBody>
      </p:sp>
      <p:sp>
        <p:nvSpPr>
          <p:cNvPr id="3" name="Rectangle 2"/>
          <p:cNvSpPr/>
          <p:nvPr/>
        </p:nvSpPr>
        <p:spPr>
          <a:xfrm>
            <a:off x="457200" y="640080"/>
            <a:ext cx="11247120" cy="4114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85800"/>
            <a:ext cx="11247120" cy="320040"/>
          </a:xfrm>
          <a:prstGeom prst="rect">
            <a:avLst/>
          </a:prstGeom>
          <a:noFill/>
        </p:spPr>
        <p:txBody>
          <a:bodyPr wrap="square">
            <a:spAutoFit/>
          </a:bodyPr>
          <a:lstStyle/>
          <a:p>
            <a:pPr algn="l"/>
            <a:r>
              <a:rPr sz="1600" b="0" i="0">
                <a:solidFill>
                  <a:srgbClr val="999999"/>
                </a:solidFill>
                <a:latin typeface="Calibri"/>
              </a:rPr>
              <a:t>Security, compliance, and developer velocity — not trade-offs</a:t>
            </a:r>
          </a:p>
        </p:txBody>
      </p:sp>
      <p:sp>
        <p:nvSpPr>
          <p:cNvPr id="5" name="Rectangle 4"/>
          <p:cNvSpPr/>
          <p:nvPr/>
        </p:nvSpPr>
        <p:spPr>
          <a:xfrm>
            <a:off x="457200" y="1280160"/>
            <a:ext cx="5394960" cy="2514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5394960" cy="64008"/>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120640" cy="365760"/>
          </a:xfrm>
          <a:prstGeom prst="rect">
            <a:avLst/>
          </a:prstGeom>
          <a:noFill/>
        </p:spPr>
        <p:txBody>
          <a:bodyPr wrap="square">
            <a:spAutoFit/>
          </a:bodyPr>
          <a:lstStyle/>
          <a:p>
            <a:pPr algn="l"/>
            <a:r>
              <a:rPr sz="1400" b="1" i="0">
                <a:solidFill>
                  <a:srgbClr val="FFD714"/>
                </a:solidFill>
                <a:latin typeface="Calibri"/>
              </a:rPr>
              <a:t>Security</a:t>
            </a:r>
          </a:p>
        </p:txBody>
      </p:sp>
      <p:sp>
        <p:nvSpPr>
          <p:cNvPr id="8" name="TextBox 7"/>
          <p:cNvSpPr txBox="1"/>
          <p:nvPr/>
        </p:nvSpPr>
        <p:spPr>
          <a:xfrm>
            <a:off x="731520" y="1920240"/>
            <a:ext cx="4846320" cy="1554480"/>
          </a:xfrm>
          <a:prstGeom prst="rect">
            <a:avLst/>
          </a:prstGeom>
          <a:noFill/>
        </p:spPr>
        <p:txBody>
          <a:bodyPr wrap="square">
            <a:spAutoFit/>
          </a:bodyPr>
          <a:lstStyle/>
          <a:p>
            <a:pPr>
              <a:spcBef>
                <a:spcPts val="400"/>
              </a:spcBef>
            </a:pPr>
            <a:r>
              <a:rPr sz="1100">
                <a:solidFill>
                  <a:srgbClr val="FFFFFF"/>
                </a:solidFill>
              </a:rPr>
              <a:t>▸  Eliminates confused deputy attack surface</a:t>
            </a:r>
          </a:p>
          <a:p>
            <a:pPr>
              <a:spcBef>
                <a:spcPts val="400"/>
              </a:spcBef>
            </a:pPr>
            <a:r>
              <a:rPr sz="1100">
                <a:solidFill>
                  <a:srgbClr val="FFFFFF"/>
                </a:solidFill>
              </a:rPr>
              <a:t>▸  Zero persistent credentials in applications</a:t>
            </a:r>
          </a:p>
          <a:p>
            <a:pPr>
              <a:spcBef>
                <a:spcPts val="400"/>
              </a:spcBef>
            </a:pPr>
            <a:r>
              <a:rPr sz="1100">
                <a:solidFill>
                  <a:srgbClr val="FFFFFF"/>
                </a:solidFill>
              </a:rPr>
              <a:t>▸  Short-lived creds limit breach impact window</a:t>
            </a:r>
          </a:p>
          <a:p>
            <a:pPr>
              <a:spcBef>
                <a:spcPts val="400"/>
              </a:spcBef>
            </a:pPr>
            <a:r>
              <a:rPr sz="1100">
                <a:solidFill>
                  <a:srgbClr val="FFFFFF"/>
                </a:solidFill>
              </a:rPr>
              <a:t>▸  Vault audit log: every access, every credential</a:t>
            </a:r>
          </a:p>
          <a:p>
            <a:pPr>
              <a:spcBef>
                <a:spcPts val="400"/>
              </a:spcBef>
            </a:pPr>
            <a:r>
              <a:rPr sz="1100">
                <a:solidFill>
                  <a:srgbClr val="FFFFFF"/>
                </a:solidFill>
              </a:rPr>
              <a:t>▸  JWKS-validated identity—no token forgery possible</a:t>
            </a:r>
          </a:p>
        </p:txBody>
      </p:sp>
      <p:sp>
        <p:nvSpPr>
          <p:cNvPr id="9" name="Rectangle 8"/>
          <p:cNvSpPr/>
          <p:nvPr/>
        </p:nvSpPr>
        <p:spPr>
          <a:xfrm>
            <a:off x="6355080" y="1280160"/>
            <a:ext cx="5394960" cy="2514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280160"/>
            <a:ext cx="5394960" cy="6400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71600"/>
            <a:ext cx="5120640" cy="365760"/>
          </a:xfrm>
          <a:prstGeom prst="rect">
            <a:avLst/>
          </a:prstGeom>
          <a:noFill/>
        </p:spPr>
        <p:txBody>
          <a:bodyPr wrap="square">
            <a:spAutoFit/>
          </a:bodyPr>
          <a:lstStyle/>
          <a:p>
            <a:pPr algn="l"/>
            <a:r>
              <a:rPr sz="1400" b="1" i="0">
                <a:solidFill>
                  <a:srgbClr val="0F62FE"/>
                </a:solidFill>
                <a:latin typeface="Calibri"/>
              </a:rPr>
              <a:t>Compliance</a:t>
            </a:r>
          </a:p>
        </p:txBody>
      </p:sp>
      <p:sp>
        <p:nvSpPr>
          <p:cNvPr id="12" name="TextBox 11"/>
          <p:cNvSpPr txBox="1"/>
          <p:nvPr/>
        </p:nvSpPr>
        <p:spPr>
          <a:xfrm>
            <a:off x="6629400" y="1920240"/>
            <a:ext cx="4846320" cy="1554480"/>
          </a:xfrm>
          <a:prstGeom prst="rect">
            <a:avLst/>
          </a:prstGeom>
          <a:noFill/>
        </p:spPr>
        <p:txBody>
          <a:bodyPr wrap="square">
            <a:spAutoFit/>
          </a:bodyPr>
          <a:lstStyle/>
          <a:p>
            <a:pPr>
              <a:spcBef>
                <a:spcPts val="400"/>
              </a:spcBef>
            </a:pPr>
            <a:r>
              <a:rPr sz="1100">
                <a:solidFill>
                  <a:srgbClr val="FFFFFF"/>
                </a:solidFill>
              </a:rPr>
              <a:t>▸  Least-privilege enforced at infrastructure level</a:t>
            </a:r>
          </a:p>
          <a:p>
            <a:pPr>
              <a:spcBef>
                <a:spcPts val="400"/>
              </a:spcBef>
            </a:pPr>
            <a:r>
              <a:rPr sz="1100">
                <a:solidFill>
                  <a:srgbClr val="FFFFFF"/>
                </a:solidFill>
              </a:rPr>
              <a:t>▸  SOC 2, ISO 27001, HIPAA audit-ready logs</a:t>
            </a:r>
          </a:p>
          <a:p>
            <a:pPr>
              <a:spcBef>
                <a:spcPts val="400"/>
              </a:spcBef>
            </a:pPr>
            <a:r>
              <a:rPr sz="1100">
                <a:solidFill>
                  <a:srgbClr val="FFFFFF"/>
                </a:solidFill>
              </a:rPr>
              <a:t>▸  User identity in every database operation</a:t>
            </a:r>
          </a:p>
          <a:p>
            <a:pPr>
              <a:spcBef>
                <a:spcPts val="400"/>
              </a:spcBef>
            </a:pPr>
            <a:r>
              <a:rPr sz="1100">
                <a:solidFill>
                  <a:srgbClr val="FFFFFF"/>
                </a:solidFill>
              </a:rPr>
              <a:t>▸  Policy-as-code: version-controlled, reviewable</a:t>
            </a:r>
          </a:p>
          <a:p>
            <a:pPr>
              <a:spcBef>
                <a:spcPts val="400"/>
              </a:spcBef>
            </a:pPr>
            <a:r>
              <a:rPr sz="1100">
                <a:solidFill>
                  <a:srgbClr val="FFFFFF"/>
                </a:solidFill>
              </a:rPr>
              <a:t>▸  Automated credential lifecycle = no compliance gaps</a:t>
            </a:r>
          </a:p>
        </p:txBody>
      </p:sp>
      <p:sp>
        <p:nvSpPr>
          <p:cNvPr id="13" name="Rectangle 12"/>
          <p:cNvSpPr/>
          <p:nvPr/>
        </p:nvSpPr>
        <p:spPr>
          <a:xfrm>
            <a:off x="457200" y="3931920"/>
            <a:ext cx="5394960" cy="2514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31920"/>
            <a:ext cx="5394960" cy="64008"/>
          </a:xfrm>
          <a:prstGeom prst="rect">
            <a:avLst/>
          </a:prstGeom>
          <a:solidFill>
            <a:srgbClr val="42BE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023359"/>
            <a:ext cx="5120640" cy="365760"/>
          </a:xfrm>
          <a:prstGeom prst="rect">
            <a:avLst/>
          </a:prstGeom>
          <a:noFill/>
        </p:spPr>
        <p:txBody>
          <a:bodyPr wrap="square">
            <a:spAutoFit/>
          </a:bodyPr>
          <a:lstStyle/>
          <a:p>
            <a:pPr algn="l"/>
            <a:r>
              <a:rPr sz="1400" b="1" i="0">
                <a:solidFill>
                  <a:srgbClr val="42BE65"/>
                </a:solidFill>
                <a:latin typeface="Calibri"/>
              </a:rPr>
              <a:t>Developer Experience</a:t>
            </a:r>
          </a:p>
        </p:txBody>
      </p:sp>
      <p:sp>
        <p:nvSpPr>
          <p:cNvPr id="16" name="TextBox 15"/>
          <p:cNvSpPr txBox="1"/>
          <p:nvPr/>
        </p:nvSpPr>
        <p:spPr>
          <a:xfrm>
            <a:off x="731520" y="4572000"/>
            <a:ext cx="4846320" cy="1554480"/>
          </a:xfrm>
          <a:prstGeom prst="rect">
            <a:avLst/>
          </a:prstGeom>
          <a:noFill/>
        </p:spPr>
        <p:txBody>
          <a:bodyPr wrap="square">
            <a:spAutoFit/>
          </a:bodyPr>
          <a:lstStyle/>
          <a:p>
            <a:pPr>
              <a:spcBef>
                <a:spcPts val="400"/>
              </a:spcBef>
            </a:pPr>
            <a:r>
              <a:rPr sz="1100">
                <a:solidFill>
                  <a:srgbClr val="FFFFFF"/>
                </a:solidFill>
              </a:rPr>
              <a:t>▸  Zero secrets management in application code</a:t>
            </a:r>
          </a:p>
          <a:p>
            <a:pPr>
              <a:spcBef>
                <a:spcPts val="400"/>
              </a:spcBef>
            </a:pPr>
            <a:r>
              <a:rPr sz="1100">
                <a:solidFill>
                  <a:srgbClr val="FFFFFF"/>
                </a:solidFill>
              </a:rPr>
              <a:t>▸  Same code deploys across all environments</a:t>
            </a:r>
          </a:p>
          <a:p>
            <a:pPr>
              <a:spcBef>
                <a:spcPts val="400"/>
              </a:spcBef>
            </a:pPr>
            <a:r>
              <a:rPr sz="1100">
                <a:solidFill>
                  <a:srgbClr val="FFFFFF"/>
                </a:solidFill>
              </a:rPr>
              <a:t>▸  No secret rotation outages or on-call pages</a:t>
            </a:r>
          </a:p>
          <a:p>
            <a:pPr>
              <a:spcBef>
                <a:spcPts val="400"/>
              </a:spcBef>
            </a:pPr>
            <a:r>
              <a:rPr sz="1100">
                <a:solidFill>
                  <a:srgbClr val="FFFFFF"/>
                </a:solidFill>
              </a:rPr>
              <a:t>▸  Access control changes via Terraform PR—not code</a:t>
            </a:r>
          </a:p>
          <a:p>
            <a:pPr>
              <a:spcBef>
                <a:spcPts val="400"/>
              </a:spcBef>
            </a:pPr>
            <a:r>
              <a:rPr sz="1100">
                <a:solidFill>
                  <a:srgbClr val="FFFFFF"/>
                </a:solidFill>
              </a:rPr>
              <a:t>▸  New users provisioned via Entra ID group—instant access</a:t>
            </a:r>
          </a:p>
        </p:txBody>
      </p:sp>
      <p:sp>
        <p:nvSpPr>
          <p:cNvPr id="17" name="Rectangle 16"/>
          <p:cNvSpPr/>
          <p:nvPr/>
        </p:nvSpPr>
        <p:spPr>
          <a:xfrm>
            <a:off x="6355080" y="3931920"/>
            <a:ext cx="5394960" cy="25146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3931920"/>
            <a:ext cx="5394960" cy="64008"/>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23359"/>
            <a:ext cx="5120640" cy="365760"/>
          </a:xfrm>
          <a:prstGeom prst="rect">
            <a:avLst/>
          </a:prstGeom>
          <a:noFill/>
        </p:spPr>
        <p:txBody>
          <a:bodyPr wrap="square">
            <a:spAutoFit/>
          </a:bodyPr>
          <a:lstStyle/>
          <a:p>
            <a:pPr algn="l"/>
            <a:r>
              <a:rPr sz="1400" b="1" i="0">
                <a:solidFill>
                  <a:srgbClr val="999999"/>
                </a:solidFill>
                <a:latin typeface="Calibri"/>
              </a:rPr>
              <a:t>Operational</a:t>
            </a:r>
          </a:p>
        </p:txBody>
      </p:sp>
      <p:sp>
        <p:nvSpPr>
          <p:cNvPr id="20" name="TextBox 19"/>
          <p:cNvSpPr txBox="1"/>
          <p:nvPr/>
        </p:nvSpPr>
        <p:spPr>
          <a:xfrm>
            <a:off x="6629400" y="4572000"/>
            <a:ext cx="4846320" cy="1554480"/>
          </a:xfrm>
          <a:prstGeom prst="rect">
            <a:avLst/>
          </a:prstGeom>
          <a:noFill/>
        </p:spPr>
        <p:txBody>
          <a:bodyPr wrap="square">
            <a:spAutoFit/>
          </a:bodyPr>
          <a:lstStyle/>
          <a:p>
            <a:pPr>
              <a:spcBef>
                <a:spcPts val="400"/>
              </a:spcBef>
            </a:pPr>
            <a:r>
              <a:rPr sz="1100">
                <a:solidFill>
                  <a:srgbClr val="FFFFFF"/>
                </a:solidFill>
              </a:rPr>
              <a:t>▸  Full-stack deploys in minutes via Terraform + Ansible</a:t>
            </a:r>
          </a:p>
          <a:p>
            <a:pPr>
              <a:spcBef>
                <a:spcPts val="400"/>
              </a:spcBef>
            </a:pPr>
            <a:r>
              <a:rPr sz="1100">
                <a:solidFill>
                  <a:srgbClr val="FFFFFF"/>
                </a:solidFill>
              </a:rPr>
              <a:t>▸  Reproducible: 'terraform destroy &amp;&amp; terraform apply'</a:t>
            </a:r>
          </a:p>
          <a:p>
            <a:pPr>
              <a:spcBef>
                <a:spcPts val="400"/>
              </a:spcBef>
            </a:pPr>
            <a:r>
              <a:rPr sz="1100">
                <a:solidFill>
                  <a:srgbClr val="FFFFFF"/>
                </a:solidFill>
              </a:rPr>
              <a:t>▸  Vault namespaces isolate team environments</a:t>
            </a:r>
          </a:p>
          <a:p>
            <a:pPr>
              <a:spcBef>
                <a:spcPts val="400"/>
              </a:spcBef>
            </a:pPr>
            <a:r>
              <a:rPr sz="1100">
                <a:solidFill>
                  <a:srgbClr val="FFFFFF"/>
                </a:solidFill>
              </a:rPr>
              <a:t>▸  Works locally and in production—same config</a:t>
            </a:r>
          </a:p>
          <a:p>
            <a:pPr>
              <a:spcBef>
                <a:spcPts val="400"/>
              </a:spcBef>
            </a:pPr>
            <a:r>
              <a:rPr sz="1100">
                <a:solidFill>
                  <a:srgbClr val="FFFFFF"/>
                </a:solidFill>
              </a:rPr>
              <a:t>▸  No cloud dependencies for core security pattern</a:t>
            </a:r>
          </a:p>
        </p:txBody>
      </p:sp>
      <p:sp>
        <p:nvSpPr>
          <p:cNvPr id="21" name="TextBox 20"/>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22" name="TextBox 21"/>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73152" cy="678484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731520"/>
          </a:xfrm>
          <a:prstGeom prst="rect">
            <a:avLst/>
          </a:prstGeom>
          <a:noFill/>
        </p:spPr>
        <p:txBody>
          <a:bodyPr wrap="square">
            <a:spAutoFit/>
          </a:bodyPr>
          <a:lstStyle/>
          <a:p>
            <a:pPr algn="l"/>
            <a:r>
              <a:rPr sz="4000" b="1" i="0">
                <a:solidFill>
                  <a:srgbClr val="FFFFFF"/>
                </a:solidFill>
                <a:latin typeface="Calibri"/>
              </a:rPr>
              <a:t>Get Started</a:t>
            </a:r>
          </a:p>
        </p:txBody>
      </p:sp>
      <p:sp>
        <p:nvSpPr>
          <p:cNvPr id="5" name="Rectangle 4"/>
          <p:cNvSpPr/>
          <p:nvPr/>
        </p:nvSpPr>
        <p:spPr>
          <a:xfrm>
            <a:off x="548640" y="1234440"/>
            <a:ext cx="4572000" cy="45720"/>
          </a:xfrm>
          <a:prstGeom prst="rect">
            <a:avLst/>
          </a:prstGeom>
          <a:solidFill>
            <a:srgbClr val="FFD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577840" cy="41148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5212080" cy="365760"/>
          </a:xfrm>
          <a:prstGeom prst="rect">
            <a:avLst/>
          </a:prstGeom>
          <a:noFill/>
        </p:spPr>
        <p:txBody>
          <a:bodyPr wrap="square">
            <a:spAutoFit/>
          </a:bodyPr>
          <a:lstStyle/>
          <a:p>
            <a:pPr algn="l"/>
            <a:r>
              <a:rPr sz="1600" b="1" i="0">
                <a:solidFill>
                  <a:srgbClr val="FFD714"/>
                </a:solidFill>
                <a:latin typeface="Calibri"/>
              </a:rPr>
              <a:t>Next Steps</a:t>
            </a:r>
          </a:p>
        </p:txBody>
      </p:sp>
      <p:sp>
        <p:nvSpPr>
          <p:cNvPr id="8" name="TextBox 7"/>
          <p:cNvSpPr txBox="1"/>
          <p:nvPr/>
        </p:nvSpPr>
        <p:spPr>
          <a:xfrm>
            <a:off x="777240" y="2057400"/>
            <a:ext cx="4937760" cy="3108960"/>
          </a:xfrm>
          <a:prstGeom prst="rect">
            <a:avLst/>
          </a:prstGeom>
          <a:noFill/>
        </p:spPr>
        <p:txBody>
          <a:bodyPr wrap="square">
            <a:spAutoFit/>
          </a:bodyPr>
          <a:lstStyle/>
          <a:p>
            <a:pPr>
              <a:spcBef>
                <a:spcPts val="400"/>
              </a:spcBef>
            </a:pPr>
            <a:r>
              <a:rPr sz="1200">
                <a:solidFill>
                  <a:srgbClr val="FFFFFF"/>
                </a:solidFill>
              </a:rPr>
              <a:t>▸  Run this demo in your own environment (GitHub link below)</a:t>
            </a:r>
          </a:p>
          <a:p>
            <a:pPr>
              <a:spcBef>
                <a:spcPts val="400"/>
              </a:spcBef>
            </a:pPr>
            <a:r>
              <a:rPr sz="1200">
                <a:solidFill>
                  <a:srgbClr val="FFFFFF"/>
                </a:solidFill>
              </a:rPr>
              <a:t>▸  Schedule a Vault Architecture Workshop with IBM Consulting</a:t>
            </a:r>
          </a:p>
          <a:p>
            <a:pPr>
              <a:spcBef>
                <a:spcPts val="400"/>
              </a:spcBef>
            </a:pPr>
            <a:r>
              <a:rPr sz="1200">
                <a:solidFill>
                  <a:srgbClr val="FFFFFF"/>
                </a:solidFill>
              </a:rPr>
              <a:t>▸  Assess your current secrets sprawl with HashiCorp Secrets Audit</a:t>
            </a:r>
          </a:p>
          <a:p>
            <a:pPr>
              <a:spcBef>
                <a:spcPts val="400"/>
              </a:spcBef>
            </a:pPr>
            <a:r>
              <a:rPr sz="1200">
                <a:solidFill>
                  <a:srgbClr val="FFFFFF"/>
                </a:solidFill>
              </a:rPr>
              <a:t>▸  Pilot dynamic secrets in one application team</a:t>
            </a:r>
          </a:p>
          <a:p>
            <a:pPr>
              <a:spcBef>
                <a:spcPts val="400"/>
              </a:spcBef>
            </a:pPr>
            <a:r>
              <a:rPr sz="1200">
                <a:solidFill>
                  <a:srgbClr val="FFFFFF"/>
                </a:solidFill>
              </a:rPr>
              <a:t>▸  Expand to HCP Vault Dedicated for production</a:t>
            </a:r>
          </a:p>
        </p:txBody>
      </p:sp>
      <p:sp>
        <p:nvSpPr>
          <p:cNvPr id="9" name="Rectangle 8"/>
          <p:cNvSpPr/>
          <p:nvPr/>
        </p:nvSpPr>
        <p:spPr>
          <a:xfrm>
            <a:off x="6309360" y="1417320"/>
            <a:ext cx="5394960" cy="41148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5029200" cy="365760"/>
          </a:xfrm>
          <a:prstGeom prst="rect">
            <a:avLst/>
          </a:prstGeom>
          <a:noFill/>
        </p:spPr>
        <p:txBody>
          <a:bodyPr wrap="square">
            <a:spAutoFit/>
          </a:bodyPr>
          <a:lstStyle/>
          <a:p>
            <a:pPr algn="l"/>
            <a:r>
              <a:rPr sz="1600" b="1" i="0">
                <a:solidFill>
                  <a:srgbClr val="FFD714"/>
                </a:solidFill>
                <a:latin typeface="Calibri"/>
              </a:rPr>
              <a:t>Field Resources</a:t>
            </a:r>
          </a:p>
        </p:txBody>
      </p:sp>
      <p:sp>
        <p:nvSpPr>
          <p:cNvPr id="11" name="TextBox 10"/>
          <p:cNvSpPr txBox="1"/>
          <p:nvPr/>
        </p:nvSpPr>
        <p:spPr>
          <a:xfrm>
            <a:off x="6629400" y="2057400"/>
            <a:ext cx="4754880" cy="3108960"/>
          </a:xfrm>
          <a:prstGeom prst="rect">
            <a:avLst/>
          </a:prstGeom>
          <a:noFill/>
        </p:spPr>
        <p:txBody>
          <a:bodyPr wrap="square">
            <a:spAutoFit/>
          </a:bodyPr>
          <a:lstStyle/>
          <a:p>
            <a:pPr>
              <a:spcBef>
                <a:spcPts val="400"/>
              </a:spcBef>
            </a:pPr>
            <a:r>
              <a:rPr sz="1100">
                <a:solidFill>
                  <a:srgbClr val="FFFFFF"/>
                </a:solidFill>
              </a:rPr>
              <a:t>▸  Demo Source:  github.com/Jlevings/demo-vault-agentic-iam</a:t>
            </a:r>
          </a:p>
          <a:p>
            <a:pPr>
              <a:spcBef>
                <a:spcPts val="400"/>
              </a:spcBef>
            </a:pPr>
            <a:r>
              <a:rPr sz="1100">
                <a:solidFill>
                  <a:srgbClr val="FFFFFF"/>
                </a:solidFill>
              </a:rPr>
              <a:t>▸  Vault Docs:   developer.hashicorp.com/vault</a:t>
            </a:r>
          </a:p>
          <a:p>
            <a:pPr>
              <a:spcBef>
                <a:spcPts val="400"/>
              </a:spcBef>
            </a:pPr>
            <a:r>
              <a:rPr sz="1100">
                <a:solidFill>
                  <a:srgbClr val="FFFFFF"/>
                </a:solidFill>
              </a:rPr>
              <a:t>▸  HCP Vault:    portal.cloud.hashicorp.com</a:t>
            </a:r>
          </a:p>
          <a:p>
            <a:pPr>
              <a:spcBef>
                <a:spcPts val="400"/>
              </a:spcBef>
            </a:pPr>
            <a:r>
              <a:rPr sz="1100">
                <a:solidFill>
                  <a:srgbClr val="FFFFFF"/>
                </a:solidFill>
              </a:rPr>
              <a:t>▸  Vault OBO Blog: hashicorp.com/blog (search 'confused deputy')</a:t>
            </a:r>
          </a:p>
          <a:p>
            <a:pPr>
              <a:spcBef>
                <a:spcPts val="400"/>
              </a:spcBef>
            </a:pPr>
            <a:r>
              <a:rPr sz="1100">
                <a:solidFill>
                  <a:srgbClr val="FFFFFF"/>
                </a:solidFill>
              </a:rPr>
              <a:t>▸  IBM × HashiCorp: ibm.com/hashicorp</a:t>
            </a:r>
          </a:p>
        </p:txBody>
      </p:sp>
      <p:sp>
        <p:nvSpPr>
          <p:cNvPr id="12" name="Rectangle 11"/>
          <p:cNvSpPr/>
          <p:nvPr/>
        </p:nvSpPr>
        <p:spPr>
          <a:xfrm>
            <a:off x="457200" y="5669280"/>
            <a:ext cx="11247120" cy="8229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760720"/>
            <a:ext cx="10972800" cy="594360"/>
          </a:xfrm>
          <a:prstGeom prst="rect">
            <a:avLst/>
          </a:prstGeom>
          <a:noFill/>
        </p:spPr>
        <p:txBody>
          <a:bodyPr wrap="square">
            <a:spAutoFit/>
          </a:bodyPr>
          <a:lstStyle/>
          <a:p>
            <a:pPr algn="ctr"/>
            <a:r>
              <a:rPr sz="1000" b="0" i="0">
                <a:solidFill>
                  <a:srgbClr val="FFD714"/>
                </a:solidFill>
                <a:latin typeface="Calibri"/>
              </a:rPr>
              <a:t>Demo Live:  Web UI → http://localhost:8501  |  Vault UI → http://127.0.0.1:8200/ui  |  Alice: alice@jlevings13gmail699.onmicrosoft.com  |  Bob: bob@jlevings13gmail699.onmicrosoft.com</a:t>
            </a:r>
          </a:p>
        </p:txBody>
      </p:sp>
      <p:sp>
        <p:nvSpPr>
          <p:cNvPr id="14" name="TextBox 13"/>
          <p:cNvSpPr txBox="1"/>
          <p:nvPr/>
        </p:nvSpPr>
        <p:spPr>
          <a:xfrm>
            <a:off x="9601200" y="6492240"/>
            <a:ext cx="2286000" cy="274320"/>
          </a:xfrm>
          <a:prstGeom prst="rect">
            <a:avLst/>
          </a:prstGeom>
          <a:noFill/>
        </p:spPr>
        <p:txBody>
          <a:bodyPr wrap="square">
            <a:spAutoFit/>
          </a:bodyPr>
          <a:lstStyle/>
          <a:p>
            <a:pPr algn="r"/>
            <a:r>
              <a:rPr sz="900" b="0" i="0">
                <a:solidFill>
                  <a:srgbClr val="999999"/>
                </a:solidFill>
                <a:latin typeface="Calibri"/>
              </a:rPr>
              <a:t>IBM × HashiCorp</a:t>
            </a:r>
          </a:p>
        </p:txBody>
      </p:sp>
      <p:sp>
        <p:nvSpPr>
          <p:cNvPr id="15" name="TextBox 14"/>
          <p:cNvSpPr txBox="1"/>
          <p:nvPr/>
        </p:nvSpPr>
        <p:spPr>
          <a:xfrm>
            <a:off x="11704320" y="6492240"/>
            <a:ext cx="365760" cy="274320"/>
          </a:xfrm>
          <a:prstGeom prst="rect">
            <a:avLst/>
          </a:prstGeom>
          <a:noFill/>
        </p:spPr>
        <p:txBody>
          <a:bodyPr wrap="square">
            <a:spAutoFit/>
          </a:bodyPr>
          <a:lstStyle/>
          <a:p>
            <a:pPr algn="r"/>
            <a:r>
              <a:rPr sz="900" b="0" i="0">
                <a:solidFill>
                  <a:srgbClr val="99999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